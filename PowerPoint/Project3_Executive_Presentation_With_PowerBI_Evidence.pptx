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841248"/>
            <a:ext cx="1005840" cy="73152"/>
          </a:xfrm>
          <a:prstGeom prst="rect">
            <a:avLst/>
          </a:prstGeom>
          <a:solidFill>
            <a:srgbClr val="D6A032"/>
          </a:solidFill>
          <a:ln>
            <a:solidFill>
              <a:srgbClr val="D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OFFSHORE FIELD DEVELOPMENT</a:t>
            </a:r>
          </a:p>
          <a:p>
            <a:pPr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ECONOMICS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98755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3E0ED"/>
                </a:solidFill>
                <a:latin typeface="Aptos"/>
              </a:defRPr>
            </a:pPr>
            <a:r>
              <a:t>Executive investment comparison | Standalone FPSO vs Subsea Tieback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54880"/>
            <a:ext cx="9784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9CDCC"/>
                </a:solidFill>
                <a:latin typeface="Aptos"/>
              </a:defRPr>
            </a:pPr>
            <a:r>
              <a:t>EXECUTIVE PORTFOLIO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26480"/>
            <a:ext cx="10241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ECCDB"/>
                </a:solidFill>
                <a:latin typeface="Aptos"/>
              </a:defRPr>
            </a:pPr>
            <a:r>
              <a:t>Synthetic analytical case study • Illustrative economics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01 | 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The decision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The solution combines production assumptions, annual economics, scenario analysis, database outputs, and Power BI decision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How do two offshore development concepts compare under a consistent set of economic assumptions?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Which concept produces more absolute value, and which uses capital more efficiently?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How sensitive are the conclusions to oil-price assumptions and model behavior?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What evidence supports the analytical outputs—and what limitations remain?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01 | 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Base-case results at a 10% discount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73152" cy="1417320"/>
          </a:xfrm>
          <a:prstGeom prst="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FPSO NPV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$7.73B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14600"/>
            <a:ext cx="2313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Higher absolute modeled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0020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600200"/>
            <a:ext cx="73152" cy="1417320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2152" y="171907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TIEBACK NPV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039112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$4.80B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514600"/>
            <a:ext cx="2313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Lower capital requirement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60020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1600200"/>
            <a:ext cx="73152" cy="1417320"/>
          </a:xfrm>
          <a:prstGeom prst="rect">
            <a:avLst/>
          </a:prstGeom>
          <a:solidFill>
            <a:srgbClr val="D6A032"/>
          </a:solidFill>
          <a:ln>
            <a:solidFill>
              <a:srgbClr val="D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171907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FPSO CAPEX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039112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$4.0B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514600"/>
            <a:ext cx="2313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Larger modeled investment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60020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23960" y="1600200"/>
            <a:ext cx="73152" cy="1417320"/>
          </a:xfrm>
          <a:prstGeom prst="rect">
            <a:avLst/>
          </a:prstGeom>
          <a:solidFill>
            <a:srgbClr val="2C7D55"/>
          </a:solidFill>
          <a:ln>
            <a:solidFill>
              <a:srgbClr val="2C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88552" y="171907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TIEBACK IRR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039112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62.44%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2514600"/>
            <a:ext cx="2313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Higher modeled return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29000"/>
            <a:ext cx="10789920" cy="214884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Standalone FPSO leads on absolute NPV and cumulative production.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Subsea Tieback leads on IRR and payback timing in the modeled base case.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appropriate choice depends on capital availability, risk, infrastructure, schedule, and commercial terms—not one metric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02 | DEVELOPMENT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Development concepts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The concepts represent different capital and infrastructure strategies.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Standalone FPSO: a more capital-intensive concept with greater modeled production and absolute NPV.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Subsea Tieback: a lower-CAPEX concept that depends on suitable host infrastructure and tie-in feasibility.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comparison is economic and illustrative; it does not establish technical feasibility for any real asset.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Real project selection would require reservoir, subsea, host-capacity, flow assurance, metocean, fiscal, and execution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02 | DEVELOPMENT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Model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Common scenario framework used for the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002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Assumption</a:t>
                      </a:r>
                    </a:p>
                  </a:txBody>
                  <a:tcPr marL="64008" marR="45720" marT="36576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Modeled setting</a:t>
                      </a:r>
                    </a:p>
                  </a:txBody>
                  <a:tcPr marL="64008" marR="45720" marT="36576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marL="64008" marR="45720" marT="36576" marB="27432">
                    <a:solidFill>
                      <a:srgbClr val="12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Evaluation horizon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25 years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Long-term annual cash-flow model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Discount rate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Present-value benchmark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Low oil-price case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$55/bbl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Downside price assumption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Base oil-price case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$75/bbl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Reference price assumption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High oil-price case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$95/bbl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Upside price assumption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166360"/>
            <a:ext cx="10241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AA3C3C"/>
                </a:solidFill>
                <a:latin typeface="Aptos"/>
              </a:defRPr>
            </a:pPr>
            <a:r>
              <a:t>Important: these are synthetic case-study assumptions, not market forecasts or sanctioned project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03 | ECONOMIC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Base-case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A multi-metric comparison prevents over-reliance on a single indicator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64008" marR="45720" marT="36576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Standalone FPSO</a:t>
                      </a:r>
                    </a:p>
                  </a:txBody>
                  <a:tcPr marL="64008" marR="45720" marT="36576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Subsea Tieback</a:t>
                      </a:r>
                    </a:p>
                  </a:txBody>
                  <a:tcPr marL="64008" marR="45720" marT="36576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Read-through</a:t>
                      </a:r>
                    </a:p>
                  </a:txBody>
                  <a:tcPr marL="64008" marR="45720" marT="36576" marB="27432">
                    <a:solidFill>
                      <a:srgbClr val="12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NPV @ 10%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$7.729B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$4.797B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FPSO higher absolute value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IRR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39.62%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62.44%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Tieback higher rate of return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Discounted payback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6.91 years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5.01 years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Tieback recovers discounted investment sooner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Undiscounted payback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6.44 years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4.77 years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Tieback recovers nominal investment sooner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Breakeven oil price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$29.11/bbl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$32.03/bbl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FPSO lower modeled breakeven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Cumulative production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481.50 MMbbl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294.09 MMbbl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FPSO has larger modeled volume</a:t>
                      </a:r>
                    </a:p>
                  </a:txBody>
                  <a:tcPr marL="64008" marR="45720" marT="36576" marB="27432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CAPEX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$4.0B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$1.3B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Tieback has lower modeled capital</a:t>
                      </a:r>
                    </a:p>
                  </a:txBody>
                  <a:tcPr marL="64008" marR="45720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03 | ECONOMIC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How to interpret the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The model supports structured comparison; it does not replace a full field-development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Absolute value: the FPSO case has the higher modeled NPV, reflecting a larger modeled production and cash-flow base.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Capital efficiency: the Tieback case has a higher modeled IRR and shorter payback, alongside lower CAPEX.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Price resilience: compare the Low, Base, and High cases rather than assuming the Base case will occur.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Decision discipline: include execution risk, schedule, fiscal terms, host access, and uncertainty before making a real investment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04 | SCENARIOS &amp;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Scenario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Scenario analysis is a controlled stress test, not a probability-weighted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Low case: $55/bbl oil price.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Base case: $75/bbl oil price.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High case: $95/bbl oil price.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Scenario calculations are generated from the modeled economic framework and made available for comparison.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Scenario-specific outputs should be interpreted alongside the assumptions and numerical status of each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04 | SCENARIOS &amp;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Power BI decision-support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Use the dashboard to explore the model—not as a substitute for checking definitions and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Oil-price scenario selection supports comparison of Low, Base, and High cases.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Development concept selection supports FPSO-versus-Tieback analysis.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report is intended to connect headline economics to supporting comparison views.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Documented regression QA reported 10/10 checks passed, including scenario slicers, cross-visual behavior, and report consistency.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Final publication should include screenshots from the actual PBIX so visual claims can be verified directly.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05 | ENGINEERING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Solution 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A layered workflow separates calculation, persistence, validation, and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Python generates and transforms the synthetic input data and computes annual economics and scenario outputs.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Validation scripts test assumptions, annual model outputs, investment metrics, scenario behavior, and IRR diagnostics.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SQLite persists analytical outputs and exposes six analytical SQL views.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Independent SQL checks reconcile analytical results across layers.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Power BI provides the semantic model, DAX measures, scenario interactions, and decision-facing visuals.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05 | ENGINEERING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Quality-assurance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Recorded results from the documented end-to-end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73152" cy="1325880"/>
          </a:xfrm>
          <a:prstGeom prst="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9339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14/14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6888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steps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73152" cy="1325880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67335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99339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81/81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46888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checks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55448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554480"/>
            <a:ext cx="73152" cy="1325880"/>
          </a:xfrm>
          <a:prstGeom prst="rect">
            <a:avLst/>
          </a:prstGeom>
          <a:solidFill>
            <a:srgbClr val="2C7D55"/>
          </a:solidFill>
          <a:ln>
            <a:solidFill>
              <a:srgbClr val="2C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167335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ANNUAL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199339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34/34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46888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checks passed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55448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1554480"/>
            <a:ext cx="73152" cy="1325880"/>
          </a:xfrm>
          <a:prstGeom prst="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0032" y="1673352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INVESTMENT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199339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17/17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46888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checks passed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24612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3246120"/>
            <a:ext cx="73152" cy="1325880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3364991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SCENARIO 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368503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16/16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416052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checks passed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324612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74720" y="3246120"/>
            <a:ext cx="73152" cy="1325880"/>
          </a:xfrm>
          <a:prstGeom prst="rect">
            <a:avLst/>
          </a:prstGeom>
          <a:solidFill>
            <a:srgbClr val="2C7D55"/>
          </a:solidFill>
          <a:ln>
            <a:solidFill>
              <a:srgbClr val="2C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39312" y="3364991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IRR QA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9312" y="368503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9/9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2" y="416052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checks passed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24612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55080" y="3246120"/>
            <a:ext cx="73152" cy="1325880"/>
          </a:xfrm>
          <a:prstGeom prst="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9672" y="3364991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SQL VIEWS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368503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15/15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416052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checks passed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3246120"/>
            <a:ext cx="26060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235440" y="3246120"/>
            <a:ext cx="73152" cy="1325880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00032" y="3364991"/>
            <a:ext cx="2313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5F6C7D"/>
                </a:solidFill>
                <a:latin typeface="Aptos"/>
              </a:defRPr>
            </a:pPr>
            <a:r>
              <a:t>SQL RECONCILIATION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3685031"/>
            <a:ext cx="2313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2253F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4160520"/>
            <a:ext cx="2313432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7D"/>
                </a:solidFill>
                <a:latin typeface="Aptos"/>
              </a:defRPr>
            </a:pPr>
            <a:r>
              <a:t>checks passed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AA3C3C"/>
                </a:solidFill>
                <a:latin typeface="Aptos"/>
              </a:defRPr>
            </a:pPr>
            <a:r>
              <a:t>These are recorded QA outcomes; a clean-checkout rebuild has not yet been performed.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05 | ENGINEERING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Numerical integrity: IRR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A blank or unavailable IRR can be the correct result when a single meaningful IRR cannot be established.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IRR can be ambiguous when cash flows produce multiple mathematical roots.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Some Low-price cases include a root near −100% that is numerically ill-conditioned.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model intentionally avoids presenting a misleading single scalar IRR when the root structure is ambiguous.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This behavior is a model-governance choice: explain the limitation rather than forcing an apparently precise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06 |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Limitations and appropriate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Transparency about boundaries is part of the analytical deliverable.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dataset is synthetic and is not calibrated to a real field, reservoir, contract, or operator.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modeled cash flows do not constitute a bankable economic evaluation or investment recommendation.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Results depend on the assumed production, cost, price, timing, and discounting framework.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Real decisions require fiscal and contractual terms, uncertainty ranges, technical feasibility, abandonment, and risked scenarios.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Reproducibility QA documents that a clean-checkout rebuild has not yet been performed.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06 |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Decision framework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The next maturity step is stronger uncertainty treatment and reproducibility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Use NPV to compare absolute modeled value, while considering IRR and payback as complementary metrics.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Stress-test oil prices, production performance, CAPEX, OPEX, schedule, and discount rate.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Add probability-weighted or risked scenarios before using the framework for real investment screening.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Complete a clean-clone rebuild and capture final Power BI screenshots before public portfolio release.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Keep all executive claims traceable to a documented calculation or QA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06 |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The project demonstrates an integrated engineering analytics workflow—not merely a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Engineering-oriented economic modeling with explicit assumptions and cash-flow logic.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A reproducible Python pipeline with layered validation and reconciliation.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Relational data design and analytical persistence using SQLite and SQL views.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Power BI semantic modeling, DAX measures, scenario interaction, and regression testing.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Numerical judgment around IRR root ambiguity and responsible presentation of uncertainty.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89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79CDCC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42416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 sound investment comparison needs more than one headline metric.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99669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7E1EC"/>
                </a:solidFill>
                <a:latin typeface="Aptos"/>
              </a:defRPr>
            </a:pPr>
            <a:r>
              <a:t>The modeled FPSO case leads on absolute NPV; the Tieback case leads on capital efficiency indicators. Scenario analysis, validated calculations, and transparent limitations make the comparison more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ECCDB"/>
                </a:solidFill>
                <a:latin typeface="Aptos"/>
              </a:defRPr>
            </a:pPr>
            <a:r>
              <a:t>Offshore Field Development Economics Intelligence • Synthetic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ECCD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APPENDIX | COMPANION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Technical companion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Executive deck = decision story. Technical deck = calculation, architecture, and verification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companion technical deck documents the economic engine, data architecture, scenario logic, SQL views, Power BI model, and QA evidence.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It distinguishes validated implementation facts from recommended future enhancements.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Detailed formulas and code excerpts should be cross-checked against the repository before final external publication.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28C"/>
                </a:solidFill>
                <a:latin typeface="Aptos"/>
              </a:defRPr>
            </a:pPr>
            <a:r>
              <a:t>APPENDIX | COMPANION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3F"/>
                </a:solidFill>
                <a:latin typeface="Aptos"/>
              </a:defRPr>
            </a:pPr>
            <a:r>
              <a:t>Evidence and reproducibility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Keep the presentation aligned with the latest repository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D"/>
                </a:solidFill>
                <a:latin typeface="Aptos"/>
              </a:defRPr>
            </a:pPr>
            <a:r>
              <a:t>OFFSHORE FIELD DEVELOPMENT ECONOMICS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tIns="36576" rIns="73152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Repository QA documentation includes Power BI scenario economics QA and repository reproducibility QA.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Recorded end-to-end pipeline completed 14/14 steps; SQLite integrity check returned “ok”.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clean-checkout rebuild remains outstanding and should be completed before describing the pipeline as independently reproducible from a fresh clone.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Presentation metrics are sourced from the project’s previously validated base-case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12253F"/>
                </a:solidFill>
                <a:latin typeface="Aptos"/>
              </a:defRPr>
            </a:pPr>
            <a:r>
              <a:t>Power BI evidence | Executive economics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66928"/>
            <a:ext cx="112471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5F6C7D"/>
                </a:solidFill>
                <a:latin typeface="Aptos"/>
              </a:defRPr>
            </a:pPr>
            <a:r>
              <a:t>Actual report screenshot supplied for this project • Selected concept: Standalone FPSO • Base-case headline metrics</a:t>
            </a:r>
          </a:p>
        </p:txBody>
      </p:sp>
      <p:pic>
        <p:nvPicPr>
          <p:cNvPr id="5" name="Picture 4" descr="Screenshot 2026-10-27 1054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507" y="896112"/>
            <a:ext cx="9624681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82512"/>
            <a:ext cx="1088136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1">
                <a:solidFill>
                  <a:srgbClr val="AA3C3C"/>
                </a:solidFill>
                <a:latin typeface="Aptos"/>
              </a:defRPr>
            </a:pPr>
            <a:r>
              <a:rPr dirty="0"/>
              <a:t>Portfolio note: </a:t>
            </a:r>
            <a:r>
              <a:rPr lang="en-US" sz="800" b="1" dirty="0">
                <a:solidFill>
                  <a:srgbClr val="AA3C3C"/>
                </a:solidFill>
                <a:latin typeface="Aptos"/>
              </a:rPr>
              <a:t>All economic results are illustrative outputs from a synthetic offshore field development model. Values are expressed in constant 2026 USD unless otherwise indicated. Base-case evaluation uses a 10% discount rate over a 25-year horizon. Results are not investment recommendations or validated commercial forecasts.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943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F6C7D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12253F"/>
                </a:solidFill>
                <a:latin typeface="Aptos"/>
              </a:defRPr>
            </a:pPr>
            <a:r>
              <a:t>Power BI evidence | Production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66928"/>
            <a:ext cx="112471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5F6C7D"/>
                </a:solidFill>
                <a:latin typeface="Aptos"/>
              </a:defRPr>
            </a:pPr>
            <a:r>
              <a:t>Actual production dashboard • Illustrative 25-year profiles, capacity assumptions, and cumulative modeled production</a:t>
            </a:r>
          </a:p>
        </p:txBody>
      </p:sp>
      <p:pic>
        <p:nvPicPr>
          <p:cNvPr id="5" name="Picture 4" descr="Screenshot 2026-10-27 105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62" y="896112"/>
            <a:ext cx="954177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82512"/>
            <a:ext cx="1088136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1">
                <a:solidFill>
                  <a:srgbClr val="AA3C3C"/>
                </a:solidFill>
                <a:latin typeface="Aptos"/>
              </a:defRPr>
            </a:pPr>
            <a:r>
              <a:rPr lang="en-US" sz="800" b="1" dirty="0">
                <a:solidFill>
                  <a:srgbClr val="AA3C3C"/>
                </a:solidFill>
                <a:latin typeface="Aptos"/>
              </a:rPr>
              <a:t>Production profiles, first-oil timing, capacity, uptime, ramp-up, plateau duration, and decline assumptions are synthetic and illustrative. Cumulative production represents modeled volumes over the 25-year evaluation horizon and does not represent actual reserves or production forecasts for a specific offshore asset.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943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F6C7D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12253F"/>
                </a:solidFill>
                <a:latin typeface="Aptos"/>
              </a:defRPr>
            </a:pPr>
            <a:r>
              <a:t>Power BI evidence | 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66928"/>
            <a:ext cx="112471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5F6C7D"/>
                </a:solidFill>
                <a:latin typeface="Aptos"/>
              </a:defRPr>
            </a:pPr>
            <a:r>
              <a:t>Actual scenario report screenshot • Low oil-price case ($55/bbl) • Selected concept: Standalone FPSO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943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F6C7D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84F906-3685-6950-D2FF-1178C6016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33" y="781327"/>
            <a:ext cx="9845893" cy="56011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1F394E-6CF5-657C-6AF0-FB5C79FC04DE}"/>
              </a:ext>
            </a:extLst>
          </p:cNvPr>
          <p:cNvSpPr txBox="1"/>
          <p:nvPr/>
        </p:nvSpPr>
        <p:spPr>
          <a:xfrm>
            <a:off x="228600" y="6423815"/>
            <a:ext cx="1088136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1">
                <a:solidFill>
                  <a:srgbClr val="AA3C3C"/>
                </a:solidFill>
                <a:latin typeface="Aptos"/>
              </a:defRPr>
            </a:pPr>
            <a:r>
              <a:rPr lang="en-US" sz="800" b="1" dirty="0">
                <a:solidFill>
                  <a:srgbClr val="AA3C3C"/>
                </a:solidFill>
                <a:latin typeface="Aptos"/>
              </a:rPr>
              <a:t>Oil-price scenarios are assumed at $55/</a:t>
            </a:r>
            <a:r>
              <a:rPr lang="en-US" sz="800" b="1" dirty="0" err="1">
                <a:solidFill>
                  <a:srgbClr val="AA3C3C"/>
                </a:solidFill>
                <a:latin typeface="Aptos"/>
              </a:rPr>
              <a:t>bbl</a:t>
            </a:r>
            <a:r>
              <a:rPr lang="en-US" sz="800" b="1" dirty="0">
                <a:solidFill>
                  <a:srgbClr val="AA3C3C"/>
                </a:solidFill>
                <a:latin typeface="Aptos"/>
              </a:rPr>
              <a:t> (Low), $75/</a:t>
            </a:r>
            <a:r>
              <a:rPr lang="en-US" sz="800" b="1" dirty="0" err="1">
                <a:solidFill>
                  <a:srgbClr val="AA3C3C"/>
                </a:solidFill>
                <a:latin typeface="Aptos"/>
              </a:rPr>
              <a:t>bbl</a:t>
            </a:r>
            <a:r>
              <a:rPr lang="en-US" sz="800" b="1" dirty="0">
                <a:solidFill>
                  <a:srgbClr val="AA3C3C"/>
                </a:solidFill>
                <a:latin typeface="Aptos"/>
              </a:rPr>
              <a:t> (Base), and $95/</a:t>
            </a:r>
            <a:r>
              <a:rPr lang="en-US" sz="800" b="1" dirty="0" err="1">
                <a:solidFill>
                  <a:srgbClr val="AA3C3C"/>
                </a:solidFill>
                <a:latin typeface="Aptos"/>
              </a:rPr>
              <a:t>bbl</a:t>
            </a:r>
            <a:r>
              <a:rPr lang="en-US" sz="800" b="1" dirty="0">
                <a:solidFill>
                  <a:srgbClr val="AA3C3C"/>
                </a:solidFill>
                <a:latin typeface="Aptos"/>
              </a:rPr>
              <a:t> (High). Economic outputs depend on the modeled production, capital, operating cost, and discounting assumptions. IRR may be unavailable where multiple or numerically ill-conditioned roots prevent reliable identification of a single meaningful value.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C9F1F-586F-9D77-3FE9-391C2082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66FD2F-2EB1-918B-E7CE-04DA3C73F86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28C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68D8C-E206-101B-7562-086B6FD0AB9D}"/>
              </a:ext>
            </a:extLst>
          </p:cNvPr>
          <p:cNvSpPr txBox="1"/>
          <p:nvPr/>
        </p:nvSpPr>
        <p:spPr>
          <a:xfrm>
            <a:off x="411480" y="201168"/>
            <a:ext cx="11338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12253F"/>
                </a:solidFill>
                <a:latin typeface="Aptos"/>
              </a:defRPr>
            </a:pPr>
            <a:r>
              <a:rPr dirty="0"/>
              <a:t>Power BI evidence | </a:t>
            </a:r>
            <a:r>
              <a:rPr lang="en-US" dirty="0"/>
              <a:t>Execution Strategy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0E36A-A8F0-EE6E-5B7F-8A5C60F94B00}"/>
              </a:ext>
            </a:extLst>
          </p:cNvPr>
          <p:cNvSpPr txBox="1"/>
          <p:nvPr/>
        </p:nvSpPr>
        <p:spPr>
          <a:xfrm>
            <a:off x="429768" y="566928"/>
            <a:ext cx="1124712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5F6C7D"/>
                </a:solidFill>
                <a:latin typeface="Aptos"/>
              </a:defRPr>
            </a:pPr>
            <a:r>
              <a:rPr lang="en-US" dirty="0"/>
              <a:t>First-oil timing, CAPEX deployment, cumulative CAPEX, cumulative net cash flow, and production-phase assumptions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83F4B-2F8A-59DE-0829-39D87D7EBC47}"/>
              </a:ext>
            </a:extLst>
          </p:cNvPr>
          <p:cNvSpPr txBox="1"/>
          <p:nvPr/>
        </p:nvSpPr>
        <p:spPr>
          <a:xfrm>
            <a:off x="11109960" y="6473952"/>
            <a:ext cx="5943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F6C7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4036ED-D6A0-355A-192B-E079B6AFA912}"/>
              </a:ext>
            </a:extLst>
          </p:cNvPr>
          <p:cNvSpPr txBox="1"/>
          <p:nvPr/>
        </p:nvSpPr>
        <p:spPr>
          <a:xfrm>
            <a:off x="228600" y="6423815"/>
            <a:ext cx="1088136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1">
                <a:solidFill>
                  <a:srgbClr val="AA3C3C"/>
                </a:solidFill>
                <a:latin typeface="Aptos"/>
              </a:defRPr>
            </a:pPr>
            <a:r>
              <a:rPr lang="en-US" sz="800" b="1" dirty="0">
                <a:solidFill>
                  <a:srgbClr val="AA3C3C"/>
                </a:solidFill>
                <a:latin typeface="Aptos"/>
              </a:rPr>
              <a:t>First-oil timing, capital deployment, production phases, and cumulative cash flows are based on synthetic development assumptions. Actual project schedules, costs, commissioning dates, and cash-flow profiles would depend on engineering design, contracting strategy, execution performance, and project-specific conditions.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2B215-F960-6FC7-D33F-18ACF415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33" y="822960"/>
            <a:ext cx="9845893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10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1953</Words>
  <Application>Microsoft Office PowerPoint</Application>
  <PresentationFormat>Widescreen</PresentationFormat>
  <Paragraphs>250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Anibal Ceballos</cp:lastModifiedBy>
  <cp:revision>2</cp:revision>
  <dcterms:created xsi:type="dcterms:W3CDTF">2013-01-27T09:14:16Z</dcterms:created>
  <dcterms:modified xsi:type="dcterms:W3CDTF">2026-10-27T17:15:04Z</dcterms:modified>
  <cp:category/>
</cp:coreProperties>
</file>