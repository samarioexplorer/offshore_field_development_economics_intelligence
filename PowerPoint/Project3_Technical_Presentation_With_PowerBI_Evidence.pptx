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27-Oct-26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27-Oct-26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27-Oct-26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27-Oct-26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27-Oct-26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27-Oct-26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27-Oct-26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27-Oct-26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27-Oct-26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27-Oct-26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27-Oct-26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27-Oct-26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53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85800" y="841248"/>
            <a:ext cx="1005840" cy="73152"/>
          </a:xfrm>
          <a:prstGeom prst="rect">
            <a:avLst/>
          </a:prstGeom>
          <a:solidFill>
            <a:srgbClr val="D6A032"/>
          </a:solidFill>
          <a:ln>
            <a:solidFill>
              <a:srgbClr val="D6A0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234440"/>
            <a:ext cx="10515600" cy="1325880"/>
          </a:xfrm>
          <a:prstGeom prst="rect">
            <a:avLst/>
          </a:prstGeom>
          <a:noFill/>
        </p:spPr>
        <p:txBody>
          <a:bodyPr wrap="square" lIns="36576" tIns="36576" rIns="36576" bIns="36576" anchor="t">
            <a:spAutoFit/>
          </a:bodyPr>
          <a:lstStyle/>
          <a:p>
            <a:pPr>
              <a:spcAft>
                <a:spcPts val="500"/>
              </a:spcAft>
              <a:defRPr sz="3100" b="1">
                <a:solidFill>
                  <a:srgbClr val="FFFFFF"/>
                </a:solidFill>
                <a:latin typeface="Aptos"/>
              </a:defRPr>
            </a:pPr>
            <a:r>
              <a:t>OFFSHORE FIELD DEVELOPMENT</a:t>
            </a:r>
          </a:p>
          <a:p>
            <a:pPr>
              <a:spcAft>
                <a:spcPts val="500"/>
              </a:spcAft>
              <a:defRPr sz="3100" b="1">
                <a:solidFill>
                  <a:srgbClr val="FFFFFF"/>
                </a:solidFill>
                <a:latin typeface="Aptos"/>
              </a:defRPr>
            </a:pPr>
            <a:r>
              <a:t>ECONOMICS INTELLIGENCE</a:t>
            </a:r>
          </a:p>
        </p:txBody>
      </p:sp>
      <p:sp>
        <p:nvSpPr>
          <p:cNvPr id="5" name="TextBox 4"/>
          <p:cNvSpPr txBox="1"/>
          <p:nvPr/>
        </p:nvSpPr>
        <p:spPr>
          <a:xfrm>
            <a:off x="749808" y="2743200"/>
            <a:ext cx="9875520" cy="822960"/>
          </a:xfrm>
          <a:prstGeom prst="rect">
            <a:avLst/>
          </a:prstGeom>
          <a:noFill/>
        </p:spPr>
        <p:txBody>
          <a:bodyPr wrap="square" lIns="36576" tIns="36576" rIns="36576" bIns="36576" anchor="t">
            <a:spAutoFit/>
          </a:bodyPr>
          <a:lstStyle/>
          <a:p>
            <a:pPr>
              <a:spcAft>
                <a:spcPts val="500"/>
              </a:spcAft>
              <a:defRPr sz="1800" b="0">
                <a:solidFill>
                  <a:srgbClr val="D3E0ED"/>
                </a:solidFill>
                <a:latin typeface="Aptos"/>
              </a:defRPr>
            </a:pPr>
            <a:r>
              <a:t>Technical implementation, economic methodology, data architecture, and quality assurance</a:t>
            </a:r>
          </a:p>
        </p:txBody>
      </p:sp>
      <p:sp>
        <p:nvSpPr>
          <p:cNvPr id="6" name="TextBox 5"/>
          <p:cNvSpPr txBox="1"/>
          <p:nvPr/>
        </p:nvSpPr>
        <p:spPr>
          <a:xfrm>
            <a:off x="749808" y="4754880"/>
            <a:ext cx="9784080" cy="411480"/>
          </a:xfrm>
          <a:prstGeom prst="rect">
            <a:avLst/>
          </a:prstGeom>
          <a:noFill/>
        </p:spPr>
        <p:txBody>
          <a:bodyPr wrap="square" lIns="36576" tIns="36576" rIns="36576" bIns="36576" anchor="t">
            <a:spAutoFit/>
          </a:bodyPr>
          <a:lstStyle/>
          <a:p>
            <a:pPr>
              <a:spcAft>
                <a:spcPts val="500"/>
              </a:spcAft>
              <a:defRPr sz="1100" b="1">
                <a:solidFill>
                  <a:srgbClr val="79CDCC"/>
                </a:solidFill>
                <a:latin typeface="Aptos"/>
              </a:defRPr>
            </a:pPr>
            <a:r>
              <a:t>TECHNICAL PORTFOLIO PRESENTATION</a:t>
            </a:r>
          </a:p>
        </p:txBody>
      </p:sp>
      <p:sp>
        <p:nvSpPr>
          <p:cNvPr id="7" name="TextBox 6"/>
          <p:cNvSpPr txBox="1"/>
          <p:nvPr/>
        </p:nvSpPr>
        <p:spPr>
          <a:xfrm>
            <a:off x="749808" y="6126480"/>
            <a:ext cx="10241280" cy="274320"/>
          </a:xfrm>
          <a:prstGeom prst="rect">
            <a:avLst/>
          </a:prstGeom>
          <a:noFill/>
        </p:spPr>
        <p:txBody>
          <a:bodyPr wrap="square" lIns="36576" tIns="36576" rIns="36576" bIns="36576" anchor="t">
            <a:spAutoFit/>
          </a:bodyPr>
          <a:lstStyle/>
          <a:p>
            <a:pPr>
              <a:spcAft>
                <a:spcPts val="500"/>
              </a:spcAft>
              <a:defRPr sz="1000" b="0">
                <a:solidFill>
                  <a:srgbClr val="BECCDB"/>
                </a:solidFill>
                <a:latin typeface="Aptos"/>
              </a:defRPr>
            </a:pPr>
            <a:r>
              <a:t>Synthetic analytical case study • Illustrative economics •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01 | SCOPE</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Technical objectives and scope</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02</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Compare two modeled development concepts under a consistent economic framework.</a:t>
            </a:r>
          </a:p>
          <a:p>
            <a:pPr>
              <a:spcAft>
                <a:spcPts val="800"/>
              </a:spcAft>
              <a:defRPr sz="1700">
                <a:solidFill>
                  <a:srgbClr val="2D3748"/>
                </a:solidFill>
                <a:latin typeface="Aptos"/>
              </a:defRPr>
            </a:pPr>
            <a:r>
              <a:t>•  Produce annual production and economic records, calculate investment metrics, and evaluate oil-price scenarios.</a:t>
            </a:r>
          </a:p>
          <a:p>
            <a:pPr>
              <a:spcAft>
                <a:spcPts val="800"/>
              </a:spcAft>
              <a:defRPr sz="1700">
                <a:solidFill>
                  <a:srgbClr val="2D3748"/>
                </a:solidFill>
                <a:latin typeface="Aptos"/>
              </a:defRPr>
            </a:pPr>
            <a:r>
              <a:t>•  Persist outputs in SQLite, expose analytical SQL views, and deliver decision-support analysis through Power BI.</a:t>
            </a:r>
          </a:p>
          <a:p>
            <a:pPr>
              <a:spcAft>
                <a:spcPts val="800"/>
              </a:spcAft>
              <a:defRPr sz="1700">
                <a:solidFill>
                  <a:srgbClr val="2D3748"/>
                </a:solidFill>
                <a:latin typeface="Aptos"/>
              </a:defRPr>
            </a:pPr>
            <a:r>
              <a:t>•  Validate key assumptions and calculations through automated checks and cross-layer reconciliation.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01 | SCOPE</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Problem framing and decision requirements</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03</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Investment screening requires multiple indicators: NPV, IRR, payback, breakeven, production, and capital intensity.</a:t>
            </a:r>
          </a:p>
          <a:p>
            <a:pPr>
              <a:spcAft>
                <a:spcPts val="800"/>
              </a:spcAft>
              <a:defRPr sz="1700">
                <a:solidFill>
                  <a:srgbClr val="2D3748"/>
                </a:solidFill>
                <a:latin typeface="Aptos"/>
              </a:defRPr>
            </a:pPr>
            <a:r>
              <a:t>•  Metrics must be traceable to assumptions, annual cash flows, and a defined discounting convention.</a:t>
            </a:r>
          </a:p>
          <a:p>
            <a:pPr>
              <a:spcAft>
                <a:spcPts val="800"/>
              </a:spcAft>
              <a:defRPr sz="1700">
                <a:solidFill>
                  <a:srgbClr val="2D3748"/>
                </a:solidFill>
                <a:latin typeface="Aptos"/>
              </a:defRPr>
            </a:pPr>
            <a:r>
              <a:t>•  Scenario selection must update the relevant scenario-dependent outputs consistently.</a:t>
            </a:r>
          </a:p>
          <a:p>
            <a:pPr>
              <a:spcAft>
                <a:spcPts val="800"/>
              </a:spcAft>
              <a:defRPr sz="1700">
                <a:solidFill>
                  <a:srgbClr val="2D3748"/>
                </a:solidFill>
                <a:latin typeface="Aptos"/>
              </a:defRPr>
            </a:pPr>
            <a:r>
              <a:t>•  Ambiguous numerical results must be flagged rather than silently forced into a single value.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02 | ASSUMPTIONS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Development concepts and boundaries</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04</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Standalone FPSO represents a higher-CAPEX, higher-modeled-volume concept in this synthetic case.</a:t>
            </a:r>
          </a:p>
          <a:p>
            <a:pPr>
              <a:spcAft>
                <a:spcPts val="800"/>
              </a:spcAft>
              <a:defRPr sz="1700">
                <a:solidFill>
                  <a:srgbClr val="2D3748"/>
                </a:solidFill>
                <a:latin typeface="Aptos"/>
              </a:defRPr>
            </a:pPr>
            <a:r>
              <a:t>•  Subsea Tieback represents a lower-CAPEX concept with modeled dependence on a host-facility strategy.</a:t>
            </a:r>
          </a:p>
          <a:p>
            <a:pPr>
              <a:spcAft>
                <a:spcPts val="800"/>
              </a:spcAft>
              <a:defRPr sz="1700">
                <a:solidFill>
                  <a:srgbClr val="2D3748"/>
                </a:solidFill>
                <a:latin typeface="Aptos"/>
              </a:defRPr>
            </a:pPr>
            <a:r>
              <a:t>•  The model compares economic outcomes; it does not prove reservoir deliverability, subsea feasibility, or host capacity.</a:t>
            </a:r>
          </a:p>
          <a:p>
            <a:pPr>
              <a:spcAft>
                <a:spcPts val="800"/>
              </a:spcAft>
              <a:defRPr sz="1700">
                <a:solidFill>
                  <a:srgbClr val="2D3748"/>
                </a:solidFill>
                <a:latin typeface="Aptos"/>
              </a:defRPr>
            </a:pPr>
            <a:r>
              <a:t>•  No real field, operator, contract, or sanctioned project is represented by these synthetic outputs.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02 | ASSUMPTIONS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Economic assumptions and scenarios</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05</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Evaluation horizon: 25 years.</a:t>
            </a:r>
          </a:p>
          <a:p>
            <a:pPr>
              <a:spcAft>
                <a:spcPts val="800"/>
              </a:spcAft>
              <a:defRPr sz="1700">
                <a:solidFill>
                  <a:srgbClr val="2D3748"/>
                </a:solidFill>
                <a:latin typeface="Aptos"/>
              </a:defRPr>
            </a:pPr>
            <a:r>
              <a:t>•  Discount rate: 10%.</a:t>
            </a:r>
          </a:p>
          <a:p>
            <a:pPr>
              <a:spcAft>
                <a:spcPts val="800"/>
              </a:spcAft>
              <a:defRPr sz="1700">
                <a:solidFill>
                  <a:srgbClr val="2D3748"/>
                </a:solidFill>
                <a:latin typeface="Aptos"/>
              </a:defRPr>
            </a:pPr>
            <a:r>
              <a:t>•  Low oil-price case: $55/bbl; Base: $75/bbl; High: $95/bbl.</a:t>
            </a:r>
          </a:p>
          <a:p>
            <a:pPr>
              <a:spcAft>
                <a:spcPts val="800"/>
              </a:spcAft>
              <a:defRPr sz="1700">
                <a:solidFill>
                  <a:srgbClr val="2D3748"/>
                </a:solidFill>
                <a:latin typeface="Aptos"/>
              </a:defRPr>
            </a:pPr>
            <a:r>
              <a:t>•  Assumptions are controlled model inputs and should be versioned and validated before calculations run.</a:t>
            </a:r>
          </a:p>
          <a:p>
            <a:pPr>
              <a:spcAft>
                <a:spcPts val="800"/>
              </a:spcAft>
              <a:defRPr sz="1700">
                <a:solidFill>
                  <a:srgbClr val="2D3748"/>
                </a:solidFill>
                <a:latin typeface="Aptos"/>
              </a:defRPr>
            </a:pPr>
            <a:r>
              <a:t>•  Do not interpret these scenario prices as a market forecast or probability distribution.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03 | PRODUCTION AND ECONOMICS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Production modeling workflow</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06</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Production profiles are generated as annual records for each development concept.</a:t>
            </a:r>
          </a:p>
          <a:p>
            <a:pPr>
              <a:spcAft>
                <a:spcPts val="800"/>
              </a:spcAft>
              <a:defRPr sz="1700">
                <a:solidFill>
                  <a:srgbClr val="2D3748"/>
                </a:solidFill>
                <a:latin typeface="Aptos"/>
              </a:defRPr>
            </a:pPr>
            <a:r>
              <a:t>•  The recorded pipeline generated 50 annual production-profile records.</a:t>
            </a:r>
          </a:p>
          <a:p>
            <a:pPr>
              <a:spcAft>
                <a:spcPts val="800"/>
              </a:spcAft>
              <a:defRPr sz="1700">
                <a:solidFill>
                  <a:srgbClr val="2D3748"/>
                </a:solidFill>
                <a:latin typeface="Aptos"/>
              </a:defRPr>
            </a:pPr>
            <a:r>
              <a:t>•  Production volumes feed the annual economic model and cumulative production metrics.</a:t>
            </a:r>
          </a:p>
          <a:p>
            <a:pPr>
              <a:spcAft>
                <a:spcPts val="800"/>
              </a:spcAft>
              <a:defRPr sz="1700">
                <a:solidFill>
                  <a:srgbClr val="2D3748"/>
                </a:solidFill>
                <a:latin typeface="Aptos"/>
              </a:defRPr>
            </a:pPr>
            <a:r>
              <a:t>•  The model's outputs are only as credible as the assumptions embedded in the synthetic profile generation.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03 | PRODUCTION AND ECONOMICS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Production volume comparison</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07</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Standalone FPSO cumulative modeled production: approximately 481.50 MMbbl.</a:t>
            </a:r>
          </a:p>
          <a:p>
            <a:pPr>
              <a:spcAft>
                <a:spcPts val="800"/>
              </a:spcAft>
              <a:defRPr sz="1700">
                <a:solidFill>
                  <a:srgbClr val="2D3748"/>
                </a:solidFill>
                <a:latin typeface="Aptos"/>
              </a:defRPr>
            </a:pPr>
            <a:r>
              <a:t>•  Subsea Tieback cumulative modeled production: approximately 294.09 MMbbl.</a:t>
            </a:r>
          </a:p>
          <a:p>
            <a:pPr>
              <a:spcAft>
                <a:spcPts val="800"/>
              </a:spcAft>
              <a:defRPr sz="1700">
                <a:solidFill>
                  <a:srgbClr val="2D3748"/>
                </a:solidFill>
                <a:latin typeface="Aptos"/>
              </a:defRPr>
            </a:pPr>
            <a:r>
              <a:t>•  The larger FPSO volume contributes to its higher absolute modeled NPV, but volume alone does not determine economic superiority.</a:t>
            </a:r>
          </a:p>
          <a:p>
            <a:pPr>
              <a:spcAft>
                <a:spcPts val="800"/>
              </a:spcAft>
              <a:defRPr sz="1700">
                <a:solidFill>
                  <a:srgbClr val="2D3748"/>
                </a:solidFill>
                <a:latin typeface="Aptos"/>
              </a:defRPr>
            </a:pPr>
            <a:r>
              <a:t>•  Production timing and cost assumptions also influence discounted cash flow.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03 | PRODUCTION AND ECONOMICS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Economic input structure</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08</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Core input families include annual production, oil-price assumptions, CAPEX, OPEX, timing, and discount rate.</a:t>
            </a:r>
          </a:p>
          <a:p>
            <a:pPr>
              <a:spcAft>
                <a:spcPts val="800"/>
              </a:spcAft>
              <a:defRPr sz="1700">
                <a:solidFill>
                  <a:srgbClr val="2D3748"/>
                </a:solidFill>
                <a:latin typeface="Aptos"/>
              </a:defRPr>
            </a:pPr>
            <a:r>
              <a:t>•  Inputs should remain distinct from calculated outputs to preserve traceability.</a:t>
            </a:r>
          </a:p>
          <a:p>
            <a:pPr>
              <a:spcAft>
                <a:spcPts val="800"/>
              </a:spcAft>
              <a:defRPr sz="1700">
                <a:solidFill>
                  <a:srgbClr val="2D3748"/>
                </a:solidFill>
                <a:latin typeface="Aptos"/>
              </a:defRPr>
            </a:pPr>
            <a:r>
              <a:t>•  Dimension and fact structures provide consistent identifiers and analytical grain.</a:t>
            </a:r>
          </a:p>
          <a:p>
            <a:pPr>
              <a:spcAft>
                <a:spcPts val="800"/>
              </a:spcAft>
              <a:defRPr sz="1700">
                <a:solidFill>
                  <a:srgbClr val="2D3748"/>
                </a:solidFill>
                <a:latin typeface="Aptos"/>
              </a:defRPr>
            </a:pPr>
            <a:r>
              <a:t>•  Any additional cost, tax, royalty, fiscal, abandonment, or uncertainty components should be explicitly modeled rather than assumed to exist.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03 | PRODUCTION AND ECONOMICS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Annual economic model</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09</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Annual records combine production assumptions with price and cost inputs to form the modeled cash-flow series.</a:t>
            </a:r>
          </a:p>
          <a:p>
            <a:pPr>
              <a:spcAft>
                <a:spcPts val="800"/>
              </a:spcAft>
              <a:defRPr sz="1700">
                <a:solidFill>
                  <a:srgbClr val="2D3748"/>
                </a:solidFill>
                <a:latin typeface="Aptos"/>
              </a:defRPr>
            </a:pPr>
            <a:r>
              <a:t>•  The recorded annual economic model contains 50 records.</a:t>
            </a:r>
          </a:p>
          <a:p>
            <a:pPr>
              <a:spcAft>
                <a:spcPts val="800"/>
              </a:spcAft>
              <a:defRPr sz="1700">
                <a:solidFill>
                  <a:srgbClr val="2D3748"/>
                </a:solidFill>
                <a:latin typeface="Aptos"/>
              </a:defRPr>
            </a:pPr>
            <a:r>
              <a:t>•  Annual grain supports time-series inspection and discounted-cash-flow calculations.</a:t>
            </a:r>
          </a:p>
          <a:p>
            <a:pPr>
              <a:spcAft>
                <a:spcPts val="800"/>
              </a:spcAft>
              <a:defRPr sz="1700">
                <a:solidFill>
                  <a:srgbClr val="2D3748"/>
                </a:solidFill>
                <a:latin typeface="Aptos"/>
              </a:defRPr>
            </a:pPr>
            <a:r>
              <a:t>•  Validation checks test expected structure and key economic behaviors before metrics are finalized.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03 | PRODUCTION AND ECONOMICS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Revenue logic and unit discipline</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10</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A simplified gross-revenue relationship is production volume multiplied by realized oil price.</a:t>
            </a:r>
          </a:p>
          <a:p>
            <a:pPr>
              <a:spcAft>
                <a:spcPts val="800"/>
              </a:spcAft>
              <a:defRPr sz="1700">
                <a:solidFill>
                  <a:srgbClr val="2D3748"/>
                </a:solidFill>
                <a:latin typeface="Aptos"/>
              </a:defRPr>
            </a:pPr>
            <a:r>
              <a:t>•  Unit consistency is essential: barrel volumes and dollars per barrel must be aligned before aggregation.</a:t>
            </a:r>
          </a:p>
          <a:p>
            <a:pPr>
              <a:spcAft>
                <a:spcPts val="800"/>
              </a:spcAft>
              <a:defRPr sz="1700">
                <a:solidFill>
                  <a:srgbClr val="2D3748"/>
                </a:solidFill>
                <a:latin typeface="Aptos"/>
              </a:defRPr>
            </a:pPr>
            <a:r>
              <a:t>•  If differentials, quality adjustments, shrinkage, royalties, or fiscal terms are not represented, they must not be implied by the headline outputs.</a:t>
            </a:r>
          </a:p>
          <a:p>
            <a:pPr>
              <a:spcAft>
                <a:spcPts val="800"/>
              </a:spcAft>
              <a:defRPr sz="1700">
                <a:solidFill>
                  <a:srgbClr val="2D3748"/>
                </a:solidFill>
                <a:latin typeface="Aptos"/>
              </a:defRPr>
            </a:pPr>
            <a:r>
              <a:t>•  Revenue is an input to modeled cash flow, not equivalent to project value.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03 | PRODUCTION AND ECONOMICS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Operating and capital cash flows</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11</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Operating economics should distinguish revenue, operating costs, capital investment, and any other explicitly modeled cash-flow components.</a:t>
            </a:r>
          </a:p>
          <a:p>
            <a:pPr>
              <a:spcAft>
                <a:spcPts val="800"/>
              </a:spcAft>
              <a:defRPr sz="1700">
                <a:solidFill>
                  <a:srgbClr val="2D3748"/>
                </a:solidFill>
                <a:latin typeface="Aptos"/>
              </a:defRPr>
            </a:pPr>
            <a:r>
              <a:t>•  CAPEX timing matters because early and late investments have different present values.</a:t>
            </a:r>
          </a:p>
          <a:p>
            <a:pPr>
              <a:spcAft>
                <a:spcPts val="800"/>
              </a:spcAft>
              <a:defRPr sz="1700">
                <a:solidFill>
                  <a:srgbClr val="2D3748"/>
                </a:solidFill>
                <a:latin typeface="Aptos"/>
              </a:defRPr>
            </a:pPr>
            <a:r>
              <a:t>•  Base-case modeled CAPEX is $4.0B for FPSO and $1.3B for Tieback.</a:t>
            </a:r>
          </a:p>
          <a:p>
            <a:pPr>
              <a:spcAft>
                <a:spcPts val="800"/>
              </a:spcAft>
              <a:defRPr sz="1700">
                <a:solidFill>
                  <a:srgbClr val="2D3748"/>
                </a:solidFill>
                <a:latin typeface="Aptos"/>
              </a:defRPr>
            </a:pPr>
            <a:r>
              <a:t>•  The technical deck reports only model components supported by the project evidence; omitted fiscal or abandonment terms are limitations.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04 | INVESTMENT METRICS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Discounted cash flow methodology</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12</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For period t, discount factor = 1 / (1 + r)^t, where r is the discount rate.</a:t>
            </a:r>
          </a:p>
          <a:p>
            <a:pPr>
              <a:spcAft>
                <a:spcPts val="800"/>
              </a:spcAft>
              <a:defRPr sz="1700">
                <a:solidFill>
                  <a:srgbClr val="2D3748"/>
                </a:solidFill>
                <a:latin typeface="Aptos"/>
              </a:defRPr>
            </a:pPr>
            <a:r>
              <a:t>•  Present value of a period's cash flow = CF_t / (1 + r)^t.</a:t>
            </a:r>
          </a:p>
          <a:p>
            <a:pPr>
              <a:spcAft>
                <a:spcPts val="800"/>
              </a:spcAft>
              <a:defRPr sz="1700">
                <a:solidFill>
                  <a:srgbClr val="2D3748"/>
                </a:solidFill>
                <a:latin typeface="Aptos"/>
              </a:defRPr>
            </a:pPr>
            <a:r>
              <a:t>•  NPV is the sum of discounted cash flows under the model's timing convention.</a:t>
            </a:r>
          </a:p>
          <a:p>
            <a:pPr>
              <a:spcAft>
                <a:spcPts val="800"/>
              </a:spcAft>
              <a:defRPr sz="1700">
                <a:solidFill>
                  <a:srgbClr val="2D3748"/>
                </a:solidFill>
                <a:latin typeface="Aptos"/>
              </a:defRPr>
            </a:pPr>
            <a:r>
              <a:t>•  The chosen period origin and investment timing convention must be applied consistently across concepts and scenarios.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04 | INVESTMENT METRICS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NPV: definition and interpretation</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13</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Net present value aggregates cash flows after discounting them to a common valuation date.</a:t>
            </a:r>
          </a:p>
          <a:p>
            <a:pPr>
              <a:spcAft>
                <a:spcPts val="800"/>
              </a:spcAft>
              <a:defRPr sz="1700">
                <a:solidFill>
                  <a:srgbClr val="2D3748"/>
                </a:solidFill>
                <a:latin typeface="Aptos"/>
              </a:defRPr>
            </a:pPr>
            <a:r>
              <a:t>•  At the 10% discount rate, modeled base-case NPV is $7.729B for FPSO and $4.797B for Tieback.</a:t>
            </a:r>
          </a:p>
          <a:p>
            <a:pPr>
              <a:spcAft>
                <a:spcPts val="800"/>
              </a:spcAft>
              <a:defRPr sz="1700">
                <a:solidFill>
                  <a:srgbClr val="2D3748"/>
                </a:solidFill>
                <a:latin typeface="Aptos"/>
              </a:defRPr>
            </a:pPr>
            <a:r>
              <a:t>•  NPV is an absolute-value measure and is affected by scale, production, price, cost, and timing.</a:t>
            </a:r>
          </a:p>
          <a:p>
            <a:pPr>
              <a:spcAft>
                <a:spcPts val="800"/>
              </a:spcAft>
              <a:defRPr sz="1700">
                <a:solidFill>
                  <a:srgbClr val="2D3748"/>
                </a:solidFill>
                <a:latin typeface="Aptos"/>
              </a:defRPr>
            </a:pPr>
            <a:r>
              <a:t>•  NPV comparisons are only meaningful when the concepts use comparable boundaries and assumptions.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04 | INVESTMENT METRICS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IRR: definition and caveats</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14</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IRR is a discount rate that makes the NPV of a cash-flow series equal to zero.</a:t>
            </a:r>
          </a:p>
          <a:p>
            <a:pPr>
              <a:spcAft>
                <a:spcPts val="800"/>
              </a:spcAft>
              <a:defRPr sz="1700">
                <a:solidFill>
                  <a:srgbClr val="2D3748"/>
                </a:solidFill>
                <a:latin typeface="Aptos"/>
              </a:defRPr>
            </a:pPr>
            <a:r>
              <a:t>•  Base-case modeled IRR: 39.62% for FPSO and 62.44% for Tieback.</a:t>
            </a:r>
          </a:p>
          <a:p>
            <a:pPr>
              <a:spcAft>
                <a:spcPts val="800"/>
              </a:spcAft>
              <a:defRPr sz="1700">
                <a:solidFill>
                  <a:srgbClr val="2D3748"/>
                </a:solidFill>
                <a:latin typeface="Aptos"/>
              </a:defRPr>
            </a:pPr>
            <a:r>
              <a:t>•  IRR can be non-unique when cash flows change sign more than once; multiple roots can exist.</a:t>
            </a:r>
          </a:p>
          <a:p>
            <a:pPr>
              <a:spcAft>
                <a:spcPts val="800"/>
              </a:spcAft>
              <a:defRPr sz="1700">
                <a:solidFill>
                  <a:srgbClr val="2D3748"/>
                </a:solidFill>
                <a:latin typeface="Aptos"/>
              </a:defRPr>
            </a:pPr>
            <a:r>
              <a:t>•  IRR should be interpreted with NPV, scale, and the structure of the underlying cash flows.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04 | INVESTMENT METRICS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Payback calculations</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15</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Undiscounted payback tracks when cumulative nominal cash flow recovers the investment.</a:t>
            </a:r>
          </a:p>
          <a:p>
            <a:pPr>
              <a:spcAft>
                <a:spcPts val="800"/>
              </a:spcAft>
              <a:defRPr sz="1700">
                <a:solidFill>
                  <a:srgbClr val="2D3748"/>
                </a:solidFill>
                <a:latin typeface="Aptos"/>
              </a:defRPr>
            </a:pPr>
            <a:r>
              <a:t>•  Discounted payback applies the discounting convention before tracking cumulative recovery.</a:t>
            </a:r>
          </a:p>
          <a:p>
            <a:pPr>
              <a:spcAft>
                <a:spcPts val="800"/>
              </a:spcAft>
              <a:defRPr sz="1700">
                <a:solidFill>
                  <a:srgbClr val="2D3748"/>
                </a:solidFill>
                <a:latin typeface="Aptos"/>
              </a:defRPr>
            </a:pPr>
            <a:r>
              <a:t>•  FPSO: 6.44 years undiscounted and 6.91 years discounted in the base case.</a:t>
            </a:r>
          </a:p>
          <a:p>
            <a:pPr>
              <a:spcAft>
                <a:spcPts val="800"/>
              </a:spcAft>
              <a:defRPr sz="1700">
                <a:solidFill>
                  <a:srgbClr val="2D3748"/>
                </a:solidFill>
                <a:latin typeface="Aptos"/>
              </a:defRPr>
            </a:pPr>
            <a:r>
              <a:t>•  Tieback: 4.77 years undiscounted and 5.01 years discounted in the base case.</a:t>
            </a:r>
          </a:p>
          <a:p>
            <a:pPr>
              <a:spcAft>
                <a:spcPts val="800"/>
              </a:spcAft>
              <a:defRPr sz="1700">
                <a:solidFill>
                  <a:srgbClr val="2D3748"/>
                </a:solidFill>
                <a:latin typeface="Aptos"/>
              </a:defRPr>
            </a:pPr>
            <a:r>
              <a:t>•  Payback is a timing indicator; it does not measure all value generated after recovery.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04 | INVESTMENT METRICS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Breakeven oil price</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16</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Breakeven price is a model-dependent price threshold under the chosen cash-flow definition.</a:t>
            </a:r>
          </a:p>
          <a:p>
            <a:pPr>
              <a:spcAft>
                <a:spcPts val="800"/>
              </a:spcAft>
              <a:defRPr sz="1700">
                <a:solidFill>
                  <a:srgbClr val="2D3748"/>
                </a:solidFill>
                <a:latin typeface="Aptos"/>
              </a:defRPr>
            </a:pPr>
            <a:r>
              <a:t>•  Base-case reported breakeven: $29.11/bbl for FPSO and $32.03/bbl for Tieback.</a:t>
            </a:r>
          </a:p>
          <a:p>
            <a:pPr>
              <a:spcAft>
                <a:spcPts val="800"/>
              </a:spcAft>
              <a:defRPr sz="1700">
                <a:solidFill>
                  <a:srgbClr val="2D3748"/>
                </a:solidFill>
                <a:latin typeface="Aptos"/>
              </a:defRPr>
            </a:pPr>
            <a:r>
              <a:t>•  The exact meaning depends on whether the model defines breakeven using NPV=0 and on the included cash-flow components.</a:t>
            </a:r>
          </a:p>
          <a:p>
            <a:pPr>
              <a:spcAft>
                <a:spcPts val="800"/>
              </a:spcAft>
              <a:defRPr sz="1700">
                <a:solidFill>
                  <a:srgbClr val="2D3748"/>
                </a:solidFill>
                <a:latin typeface="Aptos"/>
              </a:defRPr>
            </a:pPr>
            <a:r>
              <a:t>•  Documentation should state the implemented definition and its limitations before external use.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04 | INVESTMENT METRICS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Base-case economic comparison</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17</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FPSO: NPV $7.729B; IRR 39.62%; discounted payback 6.91 years; CAPEX $4.0B.</a:t>
            </a:r>
          </a:p>
          <a:p>
            <a:pPr>
              <a:spcAft>
                <a:spcPts val="800"/>
              </a:spcAft>
              <a:defRPr sz="1700">
                <a:solidFill>
                  <a:srgbClr val="2D3748"/>
                </a:solidFill>
                <a:latin typeface="Aptos"/>
              </a:defRPr>
            </a:pPr>
            <a:r>
              <a:t>•  Tieback: NPV $4.797B; IRR 62.44%; discounted payback 5.01 years; CAPEX $1.3B.</a:t>
            </a:r>
          </a:p>
          <a:p>
            <a:pPr>
              <a:spcAft>
                <a:spcPts val="800"/>
              </a:spcAft>
              <a:defRPr sz="1700">
                <a:solidFill>
                  <a:srgbClr val="2D3748"/>
                </a:solidFill>
                <a:latin typeface="Aptos"/>
              </a:defRPr>
            </a:pPr>
            <a:r>
              <a:t>•  FPSO leads on absolute NPV and modeled cumulative production.</a:t>
            </a:r>
          </a:p>
          <a:p>
            <a:pPr>
              <a:spcAft>
                <a:spcPts val="800"/>
              </a:spcAft>
              <a:defRPr sz="1700">
                <a:solidFill>
                  <a:srgbClr val="2D3748"/>
                </a:solidFill>
                <a:latin typeface="Aptos"/>
              </a:defRPr>
            </a:pPr>
            <a:r>
              <a:t>•  Tieback leads on IRR, payback, and initial capital requirement in this synthetic base case.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05 | SCENARIOS AND NUMERICAL DIAGNOSTICS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Scenario engine design</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18</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The scenario layer evaluates Low, Base, and High oil-price assumptions across the modeled concepts.</a:t>
            </a:r>
          </a:p>
          <a:p>
            <a:pPr>
              <a:spcAft>
                <a:spcPts val="800"/>
              </a:spcAft>
              <a:defRPr sz="1700">
                <a:solidFill>
                  <a:srgbClr val="2D3748"/>
                </a:solidFill>
                <a:latin typeface="Aptos"/>
              </a:defRPr>
            </a:pPr>
            <a:r>
              <a:t>•  The recorded pipeline produced 150 annual scenario records, six scenario metrics, and 150 discounted-cash-flow records.</a:t>
            </a:r>
          </a:p>
          <a:p>
            <a:pPr>
              <a:spcAft>
                <a:spcPts val="800"/>
              </a:spcAft>
              <a:defRPr sz="1700">
                <a:solidFill>
                  <a:srgbClr val="2D3748"/>
                </a:solidFill>
                <a:latin typeface="Aptos"/>
              </a:defRPr>
            </a:pPr>
            <a:r>
              <a:t>•  Scenario outputs should be keyed to concept, scenario, and period so filters resolve unambiguously.</a:t>
            </a:r>
          </a:p>
          <a:p>
            <a:pPr>
              <a:spcAft>
                <a:spcPts val="800"/>
              </a:spcAft>
              <a:defRPr sz="1700">
                <a:solidFill>
                  <a:srgbClr val="2D3748"/>
                </a:solidFill>
                <a:latin typeface="Aptos"/>
              </a:defRPr>
            </a:pPr>
            <a:r>
              <a:t>•  Scenario calculations should be reconciled to the underlying annual cash-flow logic.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05 | SCENARIOS AND NUMERICAL DIAGNOSTICS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Scenario interpretation and controls</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19</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Low/Base/High price cases are deterministic sensitivities, not likelihood-weighted outcomes.</a:t>
            </a:r>
          </a:p>
          <a:p>
            <a:pPr>
              <a:spcAft>
                <a:spcPts val="800"/>
              </a:spcAft>
              <a:defRPr sz="1700">
                <a:solidFill>
                  <a:srgbClr val="2D3748"/>
                </a:solidFill>
                <a:latin typeface="Aptos"/>
              </a:defRPr>
            </a:pPr>
            <a:r>
              <a:t>•  The scenario slicer should affect metrics designed to respond to oil price; invariant measures should be labeled accordingly.</a:t>
            </a:r>
          </a:p>
          <a:p>
            <a:pPr>
              <a:spcAft>
                <a:spcPts val="800"/>
              </a:spcAft>
              <a:defRPr sz="1700">
                <a:solidFill>
                  <a:srgbClr val="2D3748"/>
                </a:solidFill>
                <a:latin typeface="Aptos"/>
              </a:defRPr>
            </a:pPr>
            <a:r>
              <a:t>•  Regression tests should confirm that relevant measures change when the selected scenario changes.</a:t>
            </a:r>
          </a:p>
          <a:p>
            <a:pPr>
              <a:spcAft>
                <a:spcPts val="800"/>
              </a:spcAft>
              <a:defRPr sz="1700">
                <a:solidFill>
                  <a:srgbClr val="2D3748"/>
                </a:solidFill>
                <a:latin typeface="Aptos"/>
              </a:defRPr>
            </a:pPr>
            <a:r>
              <a:t>•  Always test slicers, visual interactions, filter reset, and cross-page consistency in the actual PBIX.</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05 | SCENARIOS AND NUMERICAL DIAGNOSTICS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IRR root diagnostics: why this matters</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20</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An IRR solver may find more than one root for a non-conventional cash-flow series.</a:t>
            </a:r>
          </a:p>
          <a:p>
            <a:pPr>
              <a:spcAft>
                <a:spcPts val="800"/>
              </a:spcAft>
              <a:defRPr sz="1700">
                <a:solidFill>
                  <a:srgbClr val="2D3748"/>
                </a:solidFill>
                <a:latin typeface="Aptos"/>
              </a:defRPr>
            </a:pPr>
            <a:r>
              <a:t>•  Low-price cases in the project include roots classified as numerically ill-conditioned near −100%.</a:t>
            </a:r>
          </a:p>
          <a:p>
            <a:pPr>
              <a:spcAft>
                <a:spcPts val="800"/>
              </a:spcAft>
              <a:defRPr sz="1700">
                <a:solidFill>
                  <a:srgbClr val="2D3748"/>
                </a:solidFill>
                <a:latin typeface="Aptos"/>
              </a:defRPr>
            </a:pPr>
            <a:r>
              <a:t>•  The model leaves a scalar IRR blank for multiple-root cases rather than selecting an arbitrary root.</a:t>
            </a:r>
          </a:p>
          <a:p>
            <a:pPr>
              <a:spcAft>
                <a:spcPts val="800"/>
              </a:spcAft>
              <a:defRPr sz="1700">
                <a:solidFill>
                  <a:srgbClr val="2D3748"/>
                </a:solidFill>
                <a:latin typeface="Aptos"/>
              </a:defRPr>
            </a:pPr>
            <a:r>
              <a:t>•  This avoids presenting a false impression of precision and is a deliberate analytical safeguard.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05 | SCENARIOS AND NUMERICAL DIAGNOSTICS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Numerical reliability and reporting policy</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21</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A mathematical root is not automatically a stable or economically meaningful reported metric.</a:t>
            </a:r>
          </a:p>
          <a:p>
            <a:pPr>
              <a:spcAft>
                <a:spcPts val="800"/>
              </a:spcAft>
              <a:defRPr sz="1700">
                <a:solidFill>
                  <a:srgbClr val="2D3748"/>
                </a:solidFill>
                <a:latin typeface="Aptos"/>
              </a:defRPr>
            </a:pPr>
            <a:r>
              <a:t>•  Independent NPV checks are used for well-conditioned reported roots.</a:t>
            </a:r>
          </a:p>
          <a:p>
            <a:pPr>
              <a:spcAft>
                <a:spcPts val="800"/>
              </a:spcAft>
              <a:defRPr sz="1700">
                <a:solidFill>
                  <a:srgbClr val="2D3748"/>
                </a:solidFill>
                <a:latin typeface="Aptos"/>
              </a:defRPr>
            </a:pPr>
            <a:r>
              <a:t>•  Roots near −100% are classified separately because ordinary floating-point NPV evaluation is unreliable in that region.</a:t>
            </a:r>
          </a:p>
          <a:p>
            <a:pPr>
              <a:spcAft>
                <a:spcPts val="800"/>
              </a:spcAft>
              <a:defRPr sz="1700">
                <a:solidFill>
                  <a:srgbClr val="2D3748"/>
                </a:solidFill>
                <a:latin typeface="Aptos"/>
              </a:defRPr>
            </a:pPr>
            <a:r>
              <a:t>•  Reporting status, root count, and metric value should be kept distinct in data outputs.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06 | DATA ENGINEERING</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Python pipeline architecture</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22</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The end-to-end workflow separates assumptions, generation, economic calculation, scenario analysis, persistence, and QA.</a:t>
            </a:r>
          </a:p>
          <a:p>
            <a:pPr>
              <a:spcAft>
                <a:spcPts val="800"/>
              </a:spcAft>
              <a:defRPr sz="1700">
                <a:solidFill>
                  <a:srgbClr val="2D3748"/>
                </a:solidFill>
                <a:latin typeface="Aptos"/>
              </a:defRPr>
            </a:pPr>
            <a:r>
              <a:t>•  The recorded pipeline completed 14 of 14 steps in 26.29 seconds in the existing environment.</a:t>
            </a:r>
          </a:p>
          <a:p>
            <a:pPr>
              <a:spcAft>
                <a:spcPts val="800"/>
              </a:spcAft>
              <a:defRPr sz="1700">
                <a:solidFill>
                  <a:srgbClr val="2D3748"/>
                </a:solidFill>
                <a:latin typeface="Aptos"/>
              </a:defRPr>
            </a:pPr>
            <a:r>
              <a:t>•  Validation stages run at multiple layers rather than relying on a single final check.</a:t>
            </a:r>
          </a:p>
          <a:p>
            <a:pPr>
              <a:spcAft>
                <a:spcPts val="800"/>
              </a:spcAft>
              <a:defRPr sz="1700">
                <a:solidFill>
                  <a:srgbClr val="2D3748"/>
                </a:solidFill>
                <a:latin typeface="Aptos"/>
              </a:defRPr>
            </a:pPr>
            <a:r>
              <a:t>•  A clean-checkout rebuild has not yet been performed, so that remains an explicit reproducibility task.</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06 | DATA ENGINEERING</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Data model and analytical grain</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23</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Dimension tables hold descriptive entities and stable keys; fact tables hold observations or events at defined grains.</a:t>
            </a:r>
          </a:p>
          <a:p>
            <a:pPr>
              <a:spcAft>
                <a:spcPts val="800"/>
              </a:spcAft>
              <a:defRPr sz="1700">
                <a:solidFill>
                  <a:srgbClr val="2D3748"/>
                </a:solidFill>
                <a:latin typeface="Aptos"/>
              </a:defRPr>
            </a:pPr>
            <a:r>
              <a:t>•  Annual production and economics records should not be mixed with event-grain records without a clear aggregation rule.</a:t>
            </a:r>
          </a:p>
          <a:p>
            <a:pPr>
              <a:spcAft>
                <a:spcPts val="800"/>
              </a:spcAft>
              <a:defRPr sz="1700">
                <a:solidFill>
                  <a:srgbClr val="2D3748"/>
                </a:solidFill>
                <a:latin typeface="Aptos"/>
              </a:defRPr>
            </a:pPr>
            <a:r>
              <a:t>•  Primary-key uniqueness and foreign-key integrity protect joins and avoid duplicate inflation.</a:t>
            </a:r>
          </a:p>
          <a:p>
            <a:pPr>
              <a:spcAft>
                <a:spcPts val="800"/>
              </a:spcAft>
              <a:defRPr sz="1700">
                <a:solidFill>
                  <a:srgbClr val="2D3748"/>
                </a:solidFill>
                <a:latin typeface="Aptos"/>
              </a:defRPr>
            </a:pPr>
            <a:r>
              <a:t>•  The semantic model should preserve grain and avoid ambiguous many-to-many filter paths.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06 | DATA ENGINEERING</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SQLite persistence and integrity</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24</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SQLite stores the analytical outputs used by downstream SQL views and QA.</a:t>
            </a:r>
          </a:p>
          <a:p>
            <a:pPr>
              <a:spcAft>
                <a:spcPts val="800"/>
              </a:spcAft>
              <a:defRPr sz="1700">
                <a:solidFill>
                  <a:srgbClr val="2D3748"/>
                </a:solidFill>
                <a:latin typeface="Aptos"/>
              </a:defRPr>
            </a:pPr>
            <a:r>
              <a:t>•  The recorded database integrity check returned “ok”.</a:t>
            </a:r>
          </a:p>
          <a:p>
            <a:pPr>
              <a:spcAft>
                <a:spcPts val="800"/>
              </a:spcAft>
              <a:defRPr sz="1700">
                <a:solidFill>
                  <a:srgbClr val="2D3748"/>
                </a:solidFill>
                <a:latin typeface="Aptos"/>
              </a:defRPr>
            </a:pPr>
            <a:r>
              <a:t>•  Persisted outputs make it possible to inspect and reconcile model results independently of Power BI.</a:t>
            </a:r>
          </a:p>
          <a:p>
            <a:pPr>
              <a:spcAft>
                <a:spcPts val="800"/>
              </a:spcAft>
              <a:defRPr sz="1700">
                <a:solidFill>
                  <a:srgbClr val="2D3748"/>
                </a:solidFill>
                <a:latin typeface="Aptos"/>
              </a:defRPr>
            </a:pPr>
            <a:r>
              <a:t>•  A fresh-run database should be recreated or updated through the documented pipeline, not edited ad hoc.</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06 | DATA ENGINEERING</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Analytical SQL views</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25</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The project creates six analytical SQL views to expose downstream-ready economic and scenario data.</a:t>
            </a:r>
          </a:p>
          <a:p>
            <a:pPr>
              <a:spcAft>
                <a:spcPts val="800"/>
              </a:spcAft>
              <a:defRPr sz="1700">
                <a:solidFill>
                  <a:srgbClr val="2D3748"/>
                </a:solidFill>
                <a:latin typeface="Aptos"/>
              </a:defRPr>
            </a:pPr>
            <a:r>
              <a:t>•  Views separate reusable analytical logic from individual report visuals.</a:t>
            </a:r>
          </a:p>
          <a:p>
            <a:pPr>
              <a:spcAft>
                <a:spcPts val="800"/>
              </a:spcAft>
              <a:defRPr sz="1700">
                <a:solidFill>
                  <a:srgbClr val="2D3748"/>
                </a:solidFill>
                <a:latin typeface="Aptos"/>
              </a:defRPr>
            </a:pPr>
            <a:r>
              <a:t>•  View definitions should be version-controlled and their output grain documented.</a:t>
            </a:r>
          </a:p>
          <a:p>
            <a:pPr>
              <a:spcAft>
                <a:spcPts val="800"/>
              </a:spcAft>
              <a:defRPr sz="1700">
                <a:solidFill>
                  <a:srgbClr val="2D3748"/>
                </a:solidFill>
                <a:latin typeface="Aptos"/>
              </a:defRPr>
            </a:pPr>
            <a:r>
              <a:t>•  Exact view names and SQL expressions should be confirmed directly from the current repository before quoting code in a final technical review.</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06 | DATA ENGINEERING</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Cross-layer reconciliation</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26</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Independent SQL reconciliation reported 10 of 10 checks passed.</a:t>
            </a:r>
          </a:p>
          <a:p>
            <a:pPr>
              <a:spcAft>
                <a:spcPts val="800"/>
              </a:spcAft>
              <a:defRPr sz="1700">
                <a:solidFill>
                  <a:srgbClr val="2D3748"/>
                </a:solidFill>
                <a:latin typeface="Aptos"/>
              </a:defRPr>
            </a:pPr>
            <a:r>
              <a:t>•  SQL-view QA reported 15 of 15 checks passed.</a:t>
            </a:r>
          </a:p>
          <a:p>
            <a:pPr>
              <a:spcAft>
                <a:spcPts val="800"/>
              </a:spcAft>
              <a:defRPr sz="1700">
                <a:solidFill>
                  <a:srgbClr val="2D3748"/>
                </a:solidFill>
                <a:latin typeface="Aptos"/>
              </a:defRPr>
            </a:pPr>
            <a:r>
              <a:t>•  Reconciliation should compare record counts, totals, scenario outputs, and key metrics across source calculations and persisted views.</a:t>
            </a:r>
          </a:p>
          <a:p>
            <a:pPr>
              <a:spcAft>
                <a:spcPts val="800"/>
              </a:spcAft>
              <a:defRPr sz="1700">
                <a:solidFill>
                  <a:srgbClr val="2D3748"/>
                </a:solidFill>
                <a:latin typeface="Aptos"/>
              </a:defRPr>
            </a:pPr>
            <a:r>
              <a:t>•  A successful check proves the tested relationship—not every possible behavior or the validity of all assumptions.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07 | POWER BI</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Power BI semantic model</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27</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Keep fact and dimension responsibilities distinct and relationships intentional.</a:t>
            </a:r>
          </a:p>
          <a:p>
            <a:pPr>
              <a:spcAft>
                <a:spcPts val="800"/>
              </a:spcAft>
              <a:defRPr sz="1700">
                <a:solidFill>
                  <a:srgbClr val="2D3748"/>
                </a:solidFill>
                <a:latin typeface="Aptos"/>
              </a:defRPr>
            </a:pPr>
            <a:r>
              <a:t>•  Use stable keys and validate cardinality, active relationships, and filter direction.</a:t>
            </a:r>
          </a:p>
          <a:p>
            <a:pPr>
              <a:spcAft>
                <a:spcPts val="800"/>
              </a:spcAft>
              <a:defRPr sz="1700">
                <a:solidFill>
                  <a:srgbClr val="2D3748"/>
                </a:solidFill>
                <a:latin typeface="Aptos"/>
              </a:defRPr>
            </a:pPr>
            <a:r>
              <a:t>•  Measures should calculate from the intended fact grain and avoid double-counting across joins.</a:t>
            </a:r>
          </a:p>
          <a:p>
            <a:pPr>
              <a:spcAft>
                <a:spcPts val="800"/>
              </a:spcAft>
              <a:defRPr sz="1700">
                <a:solidFill>
                  <a:srgbClr val="2D3748"/>
                </a:solidFill>
                <a:latin typeface="Aptos"/>
              </a:defRPr>
            </a:pPr>
            <a:r>
              <a:t>•  Documented model QA should be supplemented with a review of the actual PBIX before final publication.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07 | POWER BI</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DAX measure governance</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28</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Financial measures should have explicit definitions, units, filter context, and aggregation behavior.</a:t>
            </a:r>
          </a:p>
          <a:p>
            <a:pPr>
              <a:spcAft>
                <a:spcPts val="800"/>
              </a:spcAft>
              <a:defRPr sz="1700">
                <a:solidFill>
                  <a:srgbClr val="2D3748"/>
                </a:solidFill>
                <a:latin typeface="Aptos"/>
              </a:defRPr>
            </a:pPr>
            <a:r>
              <a:t>•  Scenario-sensitive measures should read the selected scenario from the model's scenario context.</a:t>
            </a:r>
          </a:p>
          <a:p>
            <a:pPr>
              <a:spcAft>
                <a:spcPts val="800"/>
              </a:spcAft>
              <a:defRPr sz="1700">
                <a:solidFill>
                  <a:srgbClr val="2D3748"/>
                </a:solidFill>
                <a:latin typeface="Aptos"/>
              </a:defRPr>
            </a:pPr>
            <a:r>
              <a:t>•  Measures intended to be invariant should not accidentally depend on a disconnected or ignored slicer.</a:t>
            </a:r>
          </a:p>
          <a:p>
            <a:pPr>
              <a:spcAft>
                <a:spcPts val="800"/>
              </a:spcAft>
              <a:defRPr sz="1700">
                <a:solidFill>
                  <a:srgbClr val="2D3748"/>
                </a:solidFill>
                <a:latin typeface="Aptos"/>
              </a:defRPr>
            </a:pPr>
            <a:r>
              <a:t>•  Use independent Python or SQL calculations as benchmarks for key Power BI outputs.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07 | POWER BI</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Slicer and visual interaction testing</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29</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Regression checks should verify oil-price scenario changes, concept selection, cross-visual interactions, and filter reset.</a:t>
            </a:r>
          </a:p>
          <a:p>
            <a:pPr>
              <a:spcAft>
                <a:spcPts val="800"/>
              </a:spcAft>
              <a:defRPr sz="1700">
                <a:solidFill>
                  <a:srgbClr val="2D3748"/>
                </a:solidFill>
                <a:latin typeface="Aptos"/>
              </a:defRPr>
            </a:pPr>
            <a:r>
              <a:t>•  The project's documented Power BI regression QA reports 10 of 10 checks passed.</a:t>
            </a:r>
          </a:p>
          <a:p>
            <a:pPr>
              <a:spcAft>
                <a:spcPts val="800"/>
              </a:spcAft>
              <a:defRPr sz="1700">
                <a:solidFill>
                  <a:srgbClr val="2D3748"/>
                </a:solidFill>
                <a:latin typeface="Aptos"/>
              </a:defRPr>
            </a:pPr>
            <a:r>
              <a:t>•  A visual may remain unchanged legitimately if it is explicitly a base-case comparison; its title and behavior must make that scope clear.</a:t>
            </a:r>
          </a:p>
          <a:p>
            <a:pPr>
              <a:spcAft>
                <a:spcPts val="800"/>
              </a:spcAft>
              <a:defRPr sz="1700">
                <a:solidFill>
                  <a:srgbClr val="2D3748"/>
                </a:solidFill>
                <a:latin typeface="Aptos"/>
              </a:defRPr>
            </a:pPr>
            <a:r>
              <a:t>•  Do not assume all visuals should change with every slicer—test and document intended behavior.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07 | POWER BI</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Power BI report design principles</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30</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Lead with a concise executive comparison, then provide detail for production, economics, and scenario diagnostics.</a:t>
            </a:r>
          </a:p>
          <a:p>
            <a:pPr>
              <a:spcAft>
                <a:spcPts val="800"/>
              </a:spcAft>
              <a:defRPr sz="1700">
                <a:solidFill>
                  <a:srgbClr val="2D3748"/>
                </a:solidFill>
                <a:latin typeface="Aptos"/>
              </a:defRPr>
            </a:pPr>
            <a:r>
              <a:t>•  Use consistent units, explicit titles, meaningful number formats, and clearly labeled scenario context.</a:t>
            </a:r>
          </a:p>
          <a:p>
            <a:pPr>
              <a:spcAft>
                <a:spcPts val="800"/>
              </a:spcAft>
              <a:defRPr sz="1700">
                <a:solidFill>
                  <a:srgbClr val="2D3748"/>
                </a:solidFill>
                <a:latin typeface="Aptos"/>
              </a:defRPr>
            </a:pPr>
            <a:r>
              <a:t>•  Keep unavailable or ambiguous IRR values distinct from zero and from missing data.</a:t>
            </a:r>
          </a:p>
          <a:p>
            <a:pPr>
              <a:spcAft>
                <a:spcPts val="800"/>
              </a:spcAft>
              <a:defRPr sz="1700">
                <a:solidFill>
                  <a:srgbClr val="2D3748"/>
                </a:solidFill>
                <a:latin typeface="Aptos"/>
              </a:defRPr>
            </a:pPr>
            <a:r>
              <a:t>•  Use annotations to communicate the model's synthetic nature and avoid implying real-asset recommendations.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08 | VALIDATION AND GOVERNANCE</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QA framework and recorded results</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31</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Assumptions: 81/81 checks passed.</a:t>
            </a:r>
          </a:p>
          <a:p>
            <a:pPr>
              <a:spcAft>
                <a:spcPts val="800"/>
              </a:spcAft>
              <a:defRPr sz="1700">
                <a:solidFill>
                  <a:srgbClr val="2D3748"/>
                </a:solidFill>
                <a:latin typeface="Aptos"/>
              </a:defRPr>
            </a:pPr>
            <a:r>
              <a:t>•  Annual economic model: 34/34; investment metrics: 17/17.</a:t>
            </a:r>
          </a:p>
          <a:p>
            <a:pPr>
              <a:spcAft>
                <a:spcPts val="800"/>
              </a:spcAft>
              <a:defRPr sz="1700">
                <a:solidFill>
                  <a:srgbClr val="2D3748"/>
                </a:solidFill>
                <a:latin typeface="Aptos"/>
              </a:defRPr>
            </a:pPr>
            <a:r>
              <a:t>•  Scenario QA: 16/16; scenario IRR QA: 9/9.</a:t>
            </a:r>
          </a:p>
          <a:p>
            <a:pPr>
              <a:spcAft>
                <a:spcPts val="800"/>
              </a:spcAft>
              <a:defRPr sz="1700">
                <a:solidFill>
                  <a:srgbClr val="2D3748"/>
                </a:solidFill>
                <a:latin typeface="Aptos"/>
              </a:defRPr>
            </a:pPr>
            <a:r>
              <a:t>•  SQL-view QA: 15/15; independent SQL reconciliation: 10/10.</a:t>
            </a:r>
          </a:p>
          <a:p>
            <a:pPr>
              <a:spcAft>
                <a:spcPts val="800"/>
              </a:spcAft>
              <a:defRPr sz="1700">
                <a:solidFill>
                  <a:srgbClr val="2D3748"/>
                </a:solidFill>
                <a:latin typeface="Aptos"/>
              </a:defRPr>
            </a:pPr>
            <a:r>
              <a:t>•  These are recorded outcomes from the existing environment and documented test runs.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08 | VALIDATION AND GOVERNANCE</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End-to-end QA interpretation</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32</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The pipeline's 14/14 completion confirms the documented run reached each defined step.</a:t>
            </a:r>
          </a:p>
          <a:p>
            <a:pPr>
              <a:spcAft>
                <a:spcPts val="800"/>
              </a:spcAft>
              <a:defRPr sz="1700">
                <a:solidFill>
                  <a:srgbClr val="2D3748"/>
                </a:solidFill>
                <a:latin typeface="Aptos"/>
              </a:defRPr>
            </a:pPr>
            <a:r>
              <a:t>•  Layered QA helps detect structural, calculation, scenario, and persistence problems.</a:t>
            </a:r>
          </a:p>
          <a:p>
            <a:pPr>
              <a:spcAft>
                <a:spcPts val="800"/>
              </a:spcAft>
              <a:defRPr sz="1700">
                <a:solidFill>
                  <a:srgbClr val="2D3748"/>
                </a:solidFill>
                <a:latin typeface="Aptos"/>
              </a:defRPr>
            </a:pPr>
            <a:r>
              <a:t>•  Passing tests does not validate the realism of synthetic assumptions or prove field-development feasibility.</a:t>
            </a:r>
          </a:p>
          <a:p>
            <a:pPr>
              <a:spcAft>
                <a:spcPts val="800"/>
              </a:spcAft>
              <a:defRPr sz="1700">
                <a:solidFill>
                  <a:srgbClr val="2D3748"/>
                </a:solidFill>
                <a:latin typeface="Aptos"/>
              </a:defRPr>
            </a:pPr>
            <a:r>
              <a:t>•  The test suite should be rerun after changes to inputs, formulas, SQL views, relationships, or DAX measures.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08 | VALIDATION AND GOVERNANCE</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Reproducibility and repository workflow</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33</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The project has repository QA documentation and a committed/pushed Power BI scenario-economics QA update.</a:t>
            </a:r>
          </a:p>
          <a:p>
            <a:pPr>
              <a:spcAft>
                <a:spcPts val="800"/>
              </a:spcAft>
              <a:defRPr sz="1700">
                <a:solidFill>
                  <a:srgbClr val="2D3748"/>
                </a:solidFill>
                <a:latin typeface="Aptos"/>
              </a:defRPr>
            </a:pPr>
            <a:r>
              <a:t>•  The documented reproducibility status explicitly says a clean-checkout rebuild has not been performed.</a:t>
            </a:r>
          </a:p>
          <a:p>
            <a:pPr>
              <a:spcAft>
                <a:spcPts val="800"/>
              </a:spcAft>
              <a:defRPr sz="1700">
                <a:solidFill>
                  <a:srgbClr val="2D3748"/>
                </a:solidFill>
                <a:latin typeface="Aptos"/>
              </a:defRPr>
            </a:pPr>
            <a:r>
              <a:t>•  Recommended closure: clone into a clean directory, install pinned dependencies, run the full pipeline, and compare outputs.</a:t>
            </a:r>
          </a:p>
          <a:p>
            <a:pPr>
              <a:spcAft>
                <a:spcPts val="800"/>
              </a:spcAft>
              <a:defRPr sz="1700">
                <a:solidFill>
                  <a:srgbClr val="2D3748"/>
                </a:solidFill>
                <a:latin typeface="Aptos"/>
              </a:defRPr>
            </a:pPr>
            <a:r>
              <a:t>•  Archive environment details and expected outputs so future changes can be evaluated consistently.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09 | CONCLUSIONS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Limitations and future technical enhancements</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34</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Synthetic production, price, CAPEX, and OPEX assumptions limit external generalization.</a:t>
            </a:r>
          </a:p>
          <a:p>
            <a:pPr>
              <a:spcAft>
                <a:spcPts val="800"/>
              </a:spcAft>
              <a:defRPr sz="1700">
                <a:solidFill>
                  <a:srgbClr val="2D3748"/>
                </a:solidFill>
                <a:latin typeface="Aptos"/>
              </a:defRPr>
            </a:pPr>
            <a:r>
              <a:t>•  Potential enhancements include fiscal terms, royalties, taxes, abandonment, inflation, price differentials, and uncertainty distributions.</a:t>
            </a:r>
          </a:p>
          <a:p>
            <a:pPr>
              <a:spcAft>
                <a:spcPts val="800"/>
              </a:spcAft>
              <a:defRPr sz="1700">
                <a:solidFill>
                  <a:srgbClr val="2D3748"/>
                </a:solidFill>
                <a:latin typeface="Aptos"/>
              </a:defRPr>
            </a:pPr>
            <a:r>
              <a:t>•  Risked economics could add probabilistic production, cost, schedule, and price cases.</a:t>
            </a:r>
          </a:p>
          <a:p>
            <a:pPr>
              <a:spcAft>
                <a:spcPts val="800"/>
              </a:spcAft>
              <a:defRPr sz="1700">
                <a:solidFill>
                  <a:srgbClr val="2D3748"/>
                </a:solidFill>
                <a:latin typeface="Aptos"/>
              </a:defRPr>
            </a:pPr>
            <a:r>
              <a:t>•  A robust investment workflow should document model boundaries, assumptions, sensitivities, and independent review.</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972800" cy="228600"/>
          </a:xfrm>
          <a:prstGeom prst="rect">
            <a:avLst/>
          </a:prstGeom>
          <a:noFill/>
        </p:spPr>
        <p:txBody>
          <a:bodyPr wrap="square" lIns="36576" tIns="36576" rIns="36576" bIns="36576" anchor="t">
            <a:spAutoFit/>
          </a:bodyPr>
          <a:lstStyle/>
          <a:p>
            <a:pPr>
              <a:spcAft>
                <a:spcPts val="500"/>
              </a:spcAft>
              <a:defRPr sz="900" b="1">
                <a:solidFill>
                  <a:srgbClr val="00828C"/>
                </a:solidFill>
                <a:latin typeface="Aptos"/>
              </a:defRPr>
            </a:pPr>
            <a:r>
              <a:t>09 | CONCLUSIONS</a:t>
            </a:r>
          </a:p>
        </p:txBody>
      </p:sp>
      <p:sp>
        <p:nvSpPr>
          <p:cNvPr id="4" name="TextBox 3"/>
          <p:cNvSpPr txBox="1"/>
          <p:nvPr/>
        </p:nvSpPr>
        <p:spPr>
          <a:xfrm>
            <a:off x="502920" y="566928"/>
            <a:ext cx="11064240" cy="502920"/>
          </a:xfrm>
          <a:prstGeom prst="rect">
            <a:avLst/>
          </a:prstGeom>
          <a:noFill/>
        </p:spPr>
        <p:txBody>
          <a:bodyPr wrap="square" lIns="36576" tIns="36576" rIns="36576" bIns="36576" anchor="t">
            <a:spAutoFit/>
          </a:bodyPr>
          <a:lstStyle/>
          <a:p>
            <a:pPr>
              <a:spcAft>
                <a:spcPts val="500"/>
              </a:spcAft>
              <a:defRPr sz="2600" b="1">
                <a:solidFill>
                  <a:srgbClr val="12253F"/>
                </a:solidFill>
                <a:latin typeface="Aptos"/>
              </a:defRPr>
            </a:pPr>
            <a:r>
              <a:t>Technical conclusions and handover</a:t>
            </a:r>
          </a:p>
        </p:txBody>
      </p:sp>
      <p:sp>
        <p:nvSpPr>
          <p:cNvPr id="5" name="TextBox 4"/>
          <p:cNvSpPr txBox="1"/>
          <p:nvPr/>
        </p:nvSpPr>
        <p:spPr>
          <a:xfrm>
            <a:off x="411480" y="6510528"/>
            <a:ext cx="9784080" cy="182880"/>
          </a:xfrm>
          <a:prstGeom prst="rect">
            <a:avLst/>
          </a:prstGeom>
          <a:noFill/>
        </p:spPr>
        <p:txBody>
          <a:bodyPr wrap="square" lIns="36576" tIns="36576" rIns="36576" bIns="36576" anchor="t">
            <a:spAutoFit/>
          </a:bodyPr>
          <a:lstStyle/>
          <a:p>
            <a:pPr>
              <a:spcAft>
                <a:spcPts val="500"/>
              </a:spcAft>
              <a:defRPr sz="800" b="1">
                <a:solidFill>
                  <a:srgbClr val="5F6C7D"/>
                </a:solidFill>
                <a:latin typeface="Aptos"/>
              </a:defRPr>
            </a:pPr>
            <a:r>
              <a:t>OFFSHORE FIELD DEVELOPMENT ECONOMICS INTELLIGENCE</a:t>
            </a:r>
          </a:p>
        </p:txBody>
      </p:sp>
      <p:sp>
        <p:nvSpPr>
          <p:cNvPr id="6" name="TextBox 5"/>
          <p:cNvSpPr txBox="1"/>
          <p:nvPr/>
        </p:nvSpPr>
        <p:spPr>
          <a:xfrm>
            <a:off x="10972800" y="6473952"/>
            <a:ext cx="731520" cy="228600"/>
          </a:xfrm>
          <a:prstGeom prst="rect">
            <a:avLst/>
          </a:prstGeom>
          <a:noFill/>
        </p:spPr>
        <p:txBody>
          <a:bodyPr wrap="square" lIns="36576" tIns="36576" rIns="36576" bIns="36576" anchor="t">
            <a:spAutoFit/>
          </a:bodyPr>
          <a:lstStyle/>
          <a:p>
            <a:pPr algn="r">
              <a:spcAft>
                <a:spcPts val="500"/>
              </a:spcAft>
              <a:defRPr sz="900" b="0">
                <a:solidFill>
                  <a:srgbClr val="5F6C7D"/>
                </a:solidFill>
                <a:latin typeface="Aptos"/>
              </a:defRPr>
            </a:pPr>
            <a:r>
              <a:t>35</a:t>
            </a:r>
          </a:p>
        </p:txBody>
      </p:sp>
      <p:sp>
        <p:nvSpPr>
          <p:cNvPr id="7" name="TextBox 6"/>
          <p:cNvSpPr txBox="1"/>
          <p:nvPr/>
        </p:nvSpPr>
        <p:spPr>
          <a:xfrm>
            <a:off x="731520" y="1417320"/>
            <a:ext cx="10789920" cy="4480560"/>
          </a:xfrm>
          <a:prstGeom prst="rect">
            <a:avLst/>
          </a:prstGeom>
          <a:noFill/>
        </p:spPr>
        <p:txBody>
          <a:bodyPr wrap="square" tIns="36576" rIns="73152" bIns="18288">
            <a:spAutoFit/>
          </a:bodyPr>
          <a:lstStyle/>
          <a:p>
            <a:pPr>
              <a:spcAft>
                <a:spcPts val="800"/>
              </a:spcAft>
              <a:defRPr sz="1700">
                <a:solidFill>
                  <a:srgbClr val="2D3748"/>
                </a:solidFill>
                <a:latin typeface="Aptos"/>
              </a:defRPr>
            </a:pPr>
            <a:r>
              <a:t>•  The project integrates economic modeling, Python automation, SQLite/SQL analytics, Power BI, and layered QA.</a:t>
            </a:r>
          </a:p>
          <a:p>
            <a:pPr>
              <a:spcAft>
                <a:spcPts val="800"/>
              </a:spcAft>
              <a:defRPr sz="1700">
                <a:solidFill>
                  <a:srgbClr val="2D3748"/>
                </a:solidFill>
                <a:latin typeface="Aptos"/>
              </a:defRPr>
            </a:pPr>
            <a:r>
              <a:t>•  The base case illustrates the trade-off between absolute modeled value and capital efficiency.</a:t>
            </a:r>
          </a:p>
          <a:p>
            <a:pPr>
              <a:spcAft>
                <a:spcPts val="800"/>
              </a:spcAft>
              <a:defRPr sz="1700">
                <a:solidFill>
                  <a:srgbClr val="2D3748"/>
                </a:solidFill>
                <a:latin typeface="Aptos"/>
              </a:defRPr>
            </a:pPr>
            <a:r>
              <a:t>•  Numerical IRR diagnostics and explicit limitations strengthen the credibility of the analysis.</a:t>
            </a:r>
          </a:p>
          <a:p>
            <a:pPr>
              <a:spcAft>
                <a:spcPts val="800"/>
              </a:spcAft>
              <a:defRPr sz="1700">
                <a:solidFill>
                  <a:srgbClr val="2D3748"/>
                </a:solidFill>
                <a:latin typeface="Aptos"/>
              </a:defRPr>
            </a:pPr>
            <a:r>
              <a:t>•  Before final public release: complete the clean-clone rebuild, capture current PBIX screenshots, and verify code snippets against the repository.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11338560" cy="347472"/>
          </a:xfrm>
          <a:prstGeom prst="rect">
            <a:avLst/>
          </a:prstGeom>
          <a:noFill/>
        </p:spPr>
        <p:txBody>
          <a:bodyPr wrap="square" lIns="27432" tIns="18288" rIns="27432" bIns="18288">
            <a:spAutoFit/>
          </a:bodyPr>
          <a:lstStyle/>
          <a:p>
            <a:pPr>
              <a:defRPr sz="2000" b="1">
                <a:solidFill>
                  <a:srgbClr val="12253F"/>
                </a:solidFill>
                <a:latin typeface="Aptos"/>
              </a:defRPr>
            </a:pPr>
            <a:r>
              <a:t>Power BI implementation evidence | Economic command center</a:t>
            </a:r>
          </a:p>
        </p:txBody>
      </p:sp>
      <p:sp>
        <p:nvSpPr>
          <p:cNvPr id="4" name="TextBox 3"/>
          <p:cNvSpPr txBox="1"/>
          <p:nvPr/>
        </p:nvSpPr>
        <p:spPr>
          <a:xfrm>
            <a:off x="429768" y="566928"/>
            <a:ext cx="11247120" cy="256032"/>
          </a:xfrm>
          <a:prstGeom prst="rect">
            <a:avLst/>
          </a:prstGeom>
          <a:noFill/>
        </p:spPr>
        <p:txBody>
          <a:bodyPr wrap="square" lIns="27432" tIns="18288" rIns="27432" bIns="18288">
            <a:spAutoFit/>
          </a:bodyPr>
          <a:lstStyle/>
          <a:p>
            <a:pPr>
              <a:defRPr sz="1000" b="0">
                <a:solidFill>
                  <a:srgbClr val="5F6C7D"/>
                </a:solidFill>
                <a:latin typeface="Aptos"/>
              </a:defRPr>
            </a:pPr>
            <a:r>
              <a:t>Report-level KPI cards, development concept slicer, base-case comparison charts, and economic summary tables</a:t>
            </a:r>
          </a:p>
        </p:txBody>
      </p:sp>
      <p:pic>
        <p:nvPicPr>
          <p:cNvPr id="5" name="Picture 4" descr="Screenshot 2026-10-27 105431.png"/>
          <p:cNvPicPr>
            <a:picLocks noChangeAspect="1"/>
          </p:cNvPicPr>
          <p:nvPr/>
        </p:nvPicPr>
        <p:blipFill>
          <a:blip r:embed="rId2"/>
          <a:stretch>
            <a:fillRect/>
          </a:stretch>
        </p:blipFill>
        <p:spPr>
          <a:xfrm>
            <a:off x="1283507" y="896112"/>
            <a:ext cx="9624681" cy="5440680"/>
          </a:xfrm>
          <a:prstGeom prst="rect">
            <a:avLst/>
          </a:prstGeom>
        </p:spPr>
      </p:pic>
      <p:sp>
        <p:nvSpPr>
          <p:cNvPr id="6" name="TextBox 5"/>
          <p:cNvSpPr txBox="1"/>
          <p:nvPr/>
        </p:nvSpPr>
        <p:spPr>
          <a:xfrm>
            <a:off x="658972" y="6382512"/>
            <a:ext cx="10450988" cy="283154"/>
          </a:xfrm>
          <a:prstGeom prst="rect">
            <a:avLst/>
          </a:prstGeom>
          <a:noFill/>
        </p:spPr>
        <p:txBody>
          <a:bodyPr wrap="square" lIns="27432" tIns="18288" rIns="27432" bIns="18288">
            <a:spAutoFit/>
          </a:bodyPr>
          <a:lstStyle/>
          <a:p>
            <a:pPr>
              <a:defRPr sz="800" b="1">
                <a:solidFill>
                  <a:srgbClr val="AA3C3C"/>
                </a:solidFill>
                <a:latin typeface="Aptos"/>
              </a:defRPr>
            </a:pPr>
            <a:r>
              <a:rPr lang="en-US" sz="800" b="1" dirty="0">
                <a:solidFill>
                  <a:srgbClr val="AA3C3C"/>
                </a:solidFill>
                <a:latin typeface="Aptos"/>
              </a:rPr>
              <a:t>KPI values and comparison visuals are derived from the project's economic model and Power BI semantic layer. Base-case indicators use the documented 25-year evaluation horizon and 10% discount rate. Metric definitions, aggregation logic, and scenario behavior should be interpreted according to the implemented model and its documented QA results.</a:t>
            </a:r>
            <a:endParaRPr dirty="0"/>
          </a:p>
        </p:txBody>
      </p:sp>
      <p:sp>
        <p:nvSpPr>
          <p:cNvPr id="7" name="TextBox 6"/>
          <p:cNvSpPr txBox="1"/>
          <p:nvPr/>
        </p:nvSpPr>
        <p:spPr>
          <a:xfrm>
            <a:off x="11109960" y="6473952"/>
            <a:ext cx="594360" cy="182880"/>
          </a:xfrm>
          <a:prstGeom prst="rect">
            <a:avLst/>
          </a:prstGeom>
          <a:noFill/>
        </p:spPr>
        <p:txBody>
          <a:bodyPr wrap="square" lIns="27432" tIns="18288" rIns="27432" bIns="18288">
            <a:spAutoFit/>
          </a:bodyPr>
          <a:lstStyle/>
          <a:p>
            <a:pPr>
              <a:defRPr sz="900" b="0">
                <a:solidFill>
                  <a:srgbClr val="5F6C7D"/>
                </a:solidFill>
                <a:latin typeface="Aptos"/>
              </a:defRPr>
            </a:pPr>
            <a: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11338560" cy="347472"/>
          </a:xfrm>
          <a:prstGeom prst="rect">
            <a:avLst/>
          </a:prstGeom>
          <a:noFill/>
        </p:spPr>
        <p:txBody>
          <a:bodyPr wrap="square" lIns="27432" tIns="18288" rIns="27432" bIns="18288">
            <a:spAutoFit/>
          </a:bodyPr>
          <a:lstStyle/>
          <a:p>
            <a:pPr>
              <a:defRPr sz="2000" b="1">
                <a:solidFill>
                  <a:srgbClr val="12253F"/>
                </a:solidFill>
                <a:latin typeface="Aptos"/>
              </a:defRPr>
            </a:pPr>
            <a:r>
              <a:t>Power BI implementation evidence | Production model outputs</a:t>
            </a:r>
          </a:p>
        </p:txBody>
      </p:sp>
      <p:sp>
        <p:nvSpPr>
          <p:cNvPr id="4" name="TextBox 3"/>
          <p:cNvSpPr txBox="1"/>
          <p:nvPr/>
        </p:nvSpPr>
        <p:spPr>
          <a:xfrm>
            <a:off x="429768" y="566928"/>
            <a:ext cx="11247120" cy="256032"/>
          </a:xfrm>
          <a:prstGeom prst="rect">
            <a:avLst/>
          </a:prstGeom>
          <a:noFill/>
        </p:spPr>
        <p:txBody>
          <a:bodyPr wrap="square" lIns="27432" tIns="18288" rIns="27432" bIns="18288">
            <a:spAutoFit/>
          </a:bodyPr>
          <a:lstStyle/>
          <a:p>
            <a:pPr>
              <a:defRPr sz="1000" b="0">
                <a:solidFill>
                  <a:srgbClr val="5F6C7D"/>
                </a:solidFill>
                <a:latin typeface="Aptos"/>
              </a:defRPr>
            </a:pPr>
            <a:r>
              <a:t>Annual ramp-up, cumulative production, capacity utilization, lifecycle phases, and concept selection</a:t>
            </a:r>
          </a:p>
        </p:txBody>
      </p:sp>
      <p:pic>
        <p:nvPicPr>
          <p:cNvPr id="5" name="Picture 4" descr="Screenshot 2026-10-27 105513.png"/>
          <p:cNvPicPr>
            <a:picLocks noChangeAspect="1"/>
          </p:cNvPicPr>
          <p:nvPr/>
        </p:nvPicPr>
        <p:blipFill>
          <a:blip r:embed="rId2"/>
          <a:stretch>
            <a:fillRect/>
          </a:stretch>
        </p:blipFill>
        <p:spPr>
          <a:xfrm>
            <a:off x="1324962" y="896112"/>
            <a:ext cx="9541770" cy="5440680"/>
          </a:xfrm>
          <a:prstGeom prst="rect">
            <a:avLst/>
          </a:prstGeom>
        </p:spPr>
      </p:pic>
      <p:sp>
        <p:nvSpPr>
          <p:cNvPr id="6" name="TextBox 5"/>
          <p:cNvSpPr txBox="1"/>
          <p:nvPr/>
        </p:nvSpPr>
        <p:spPr>
          <a:xfrm>
            <a:off x="457200" y="6382512"/>
            <a:ext cx="10409532" cy="283154"/>
          </a:xfrm>
          <a:prstGeom prst="rect">
            <a:avLst/>
          </a:prstGeom>
          <a:noFill/>
        </p:spPr>
        <p:txBody>
          <a:bodyPr wrap="square" lIns="27432" tIns="18288" rIns="27432" bIns="18288">
            <a:spAutoFit/>
          </a:bodyPr>
          <a:lstStyle/>
          <a:p>
            <a:pPr>
              <a:defRPr sz="800" b="1">
                <a:solidFill>
                  <a:srgbClr val="AA3C3C"/>
                </a:solidFill>
                <a:latin typeface="Aptos"/>
              </a:defRPr>
            </a:pPr>
            <a:r>
              <a:rPr lang="en-US" sz="800" b="1" dirty="0">
                <a:solidFill>
                  <a:srgbClr val="AA3C3C"/>
                </a:solidFill>
                <a:latin typeface="Aptos"/>
              </a:rPr>
              <a:t>Production curves and lifecycle indicators represent synthetic annual production profiles. Cumulative volumes are aggregated over the modeled horizon. The profiles demonstrate the analytical workflow and visualization logic; they do not constitute reservoir forecasts or independently validated engineering production forecasts.</a:t>
            </a:r>
            <a:endParaRPr dirty="0"/>
          </a:p>
        </p:txBody>
      </p:sp>
      <p:sp>
        <p:nvSpPr>
          <p:cNvPr id="7" name="TextBox 6"/>
          <p:cNvSpPr txBox="1"/>
          <p:nvPr/>
        </p:nvSpPr>
        <p:spPr>
          <a:xfrm>
            <a:off x="11109960" y="6473952"/>
            <a:ext cx="594360" cy="182880"/>
          </a:xfrm>
          <a:prstGeom prst="rect">
            <a:avLst/>
          </a:prstGeom>
          <a:noFill/>
        </p:spPr>
        <p:txBody>
          <a:bodyPr wrap="square" lIns="27432" tIns="18288" rIns="27432" bIns="18288">
            <a:spAutoFit/>
          </a:bodyPr>
          <a:lstStyle/>
          <a:p>
            <a:pPr>
              <a:defRPr sz="900" b="0">
                <a:solidFill>
                  <a:srgbClr val="5F6C7D"/>
                </a:solidFill>
                <a:latin typeface="Aptos"/>
              </a:defRPr>
            </a:pPr>
            <a: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11338560" cy="347472"/>
          </a:xfrm>
          <a:prstGeom prst="rect">
            <a:avLst/>
          </a:prstGeom>
          <a:noFill/>
        </p:spPr>
        <p:txBody>
          <a:bodyPr wrap="square" lIns="27432" tIns="18288" rIns="27432" bIns="18288">
            <a:spAutoFit/>
          </a:bodyPr>
          <a:lstStyle/>
          <a:p>
            <a:pPr>
              <a:defRPr sz="2000" b="1">
                <a:solidFill>
                  <a:srgbClr val="12253F"/>
                </a:solidFill>
                <a:latin typeface="Aptos"/>
              </a:defRPr>
            </a:pPr>
            <a:r>
              <a:t>Power BI implementation evidence | Scenario interaction</a:t>
            </a:r>
          </a:p>
        </p:txBody>
      </p:sp>
      <p:sp>
        <p:nvSpPr>
          <p:cNvPr id="4" name="TextBox 3"/>
          <p:cNvSpPr txBox="1"/>
          <p:nvPr/>
        </p:nvSpPr>
        <p:spPr>
          <a:xfrm>
            <a:off x="429768" y="566928"/>
            <a:ext cx="11247120" cy="256032"/>
          </a:xfrm>
          <a:prstGeom prst="rect">
            <a:avLst/>
          </a:prstGeom>
          <a:noFill/>
        </p:spPr>
        <p:txBody>
          <a:bodyPr wrap="square" lIns="27432" tIns="18288" rIns="27432" bIns="18288">
            <a:spAutoFit/>
          </a:bodyPr>
          <a:lstStyle/>
          <a:p>
            <a:pPr>
              <a:defRPr sz="1000" b="0">
                <a:solidFill>
                  <a:srgbClr val="5F6C7D"/>
                </a:solidFill>
                <a:latin typeface="Aptos"/>
              </a:defRPr>
            </a:pPr>
            <a:r>
              <a:t>Oil-price scenario and development concept slicers; scenario NPV, IRR status, discounted payback, and annual cash flow</a:t>
            </a:r>
          </a:p>
        </p:txBody>
      </p:sp>
      <p:sp>
        <p:nvSpPr>
          <p:cNvPr id="7" name="TextBox 6"/>
          <p:cNvSpPr txBox="1"/>
          <p:nvPr/>
        </p:nvSpPr>
        <p:spPr>
          <a:xfrm>
            <a:off x="11109960" y="6473952"/>
            <a:ext cx="594360" cy="182880"/>
          </a:xfrm>
          <a:prstGeom prst="rect">
            <a:avLst/>
          </a:prstGeom>
          <a:noFill/>
        </p:spPr>
        <p:txBody>
          <a:bodyPr wrap="square" lIns="27432" tIns="18288" rIns="27432" bIns="18288">
            <a:spAutoFit/>
          </a:bodyPr>
          <a:lstStyle/>
          <a:p>
            <a:pPr>
              <a:defRPr sz="900" b="0">
                <a:solidFill>
                  <a:srgbClr val="5F6C7D"/>
                </a:solidFill>
                <a:latin typeface="Aptos"/>
              </a:defRPr>
            </a:pPr>
            <a:r>
              <a:t>38</a:t>
            </a:r>
          </a:p>
        </p:txBody>
      </p:sp>
      <p:pic>
        <p:nvPicPr>
          <p:cNvPr id="11" name="Picture 10">
            <a:extLst>
              <a:ext uri="{FF2B5EF4-FFF2-40B4-BE49-F238E27FC236}">
                <a16:creationId xmlns:a16="http://schemas.microsoft.com/office/drawing/2014/main" id="{F5AF3290-4601-9207-C4E7-BCB0D8C27E7C}"/>
              </a:ext>
            </a:extLst>
          </p:cNvPr>
          <p:cNvPicPr>
            <a:picLocks noChangeAspect="1"/>
          </p:cNvPicPr>
          <p:nvPr/>
        </p:nvPicPr>
        <p:blipFill>
          <a:blip r:embed="rId2"/>
          <a:stretch>
            <a:fillRect/>
          </a:stretch>
        </p:blipFill>
        <p:spPr>
          <a:xfrm>
            <a:off x="1015737" y="841248"/>
            <a:ext cx="9845893" cy="5601185"/>
          </a:xfrm>
          <a:prstGeom prst="rect">
            <a:avLst/>
          </a:prstGeom>
        </p:spPr>
      </p:pic>
      <p:sp>
        <p:nvSpPr>
          <p:cNvPr id="14" name="TextBox 13">
            <a:extLst>
              <a:ext uri="{FF2B5EF4-FFF2-40B4-BE49-F238E27FC236}">
                <a16:creationId xmlns:a16="http://schemas.microsoft.com/office/drawing/2014/main" id="{69AD2709-43FE-2F8F-F1BA-4B3A2D37DEA7}"/>
              </a:ext>
            </a:extLst>
          </p:cNvPr>
          <p:cNvSpPr txBox="1"/>
          <p:nvPr/>
        </p:nvSpPr>
        <p:spPr>
          <a:xfrm>
            <a:off x="457200" y="6442433"/>
            <a:ext cx="10652760" cy="283154"/>
          </a:xfrm>
          <a:prstGeom prst="rect">
            <a:avLst/>
          </a:prstGeom>
          <a:noFill/>
        </p:spPr>
        <p:txBody>
          <a:bodyPr wrap="square" lIns="27432" tIns="18288" rIns="27432" bIns="18288">
            <a:spAutoFit/>
          </a:bodyPr>
          <a:lstStyle/>
          <a:p>
            <a:pPr>
              <a:defRPr sz="800" b="1">
                <a:solidFill>
                  <a:srgbClr val="AA3C3C"/>
                </a:solidFill>
                <a:latin typeface="Aptos"/>
              </a:defRPr>
            </a:pPr>
            <a:r>
              <a:rPr lang="en-US" sz="800" b="1" dirty="0">
                <a:solidFill>
                  <a:srgbClr val="AA3C3C"/>
                </a:solidFill>
                <a:latin typeface="Aptos"/>
              </a:rPr>
              <a:t>Scenario-dependent measures are evaluated under the selected oil-price assumption and development concept. The Low, Base, and High cases use assumed oil prices of $55/</a:t>
            </a:r>
            <a:r>
              <a:rPr lang="en-US" sz="800" b="1" dirty="0" err="1">
                <a:solidFill>
                  <a:srgbClr val="AA3C3C"/>
                </a:solidFill>
                <a:latin typeface="Aptos"/>
              </a:rPr>
              <a:t>bbl</a:t>
            </a:r>
            <a:r>
              <a:rPr lang="en-US" sz="800" b="1" dirty="0">
                <a:solidFill>
                  <a:srgbClr val="AA3C3C"/>
                </a:solidFill>
                <a:latin typeface="Aptos"/>
              </a:rPr>
              <a:t>, $75/</a:t>
            </a:r>
            <a:r>
              <a:rPr lang="en-US" sz="800" b="1" dirty="0" err="1">
                <a:solidFill>
                  <a:srgbClr val="AA3C3C"/>
                </a:solidFill>
                <a:latin typeface="Aptos"/>
              </a:rPr>
              <a:t>bbl</a:t>
            </a:r>
            <a:r>
              <a:rPr lang="en-US" sz="800" b="1" dirty="0">
                <a:solidFill>
                  <a:srgbClr val="AA3C3C"/>
                </a:solidFill>
                <a:latin typeface="Aptos"/>
              </a:rPr>
              <a:t>, and $95/</a:t>
            </a:r>
            <a:r>
              <a:rPr lang="en-US" sz="800" b="1" dirty="0" err="1">
                <a:solidFill>
                  <a:srgbClr val="AA3C3C"/>
                </a:solidFill>
                <a:latin typeface="Aptos"/>
              </a:rPr>
              <a:t>bbl</a:t>
            </a:r>
            <a:r>
              <a:rPr lang="en-US" sz="800" b="1" dirty="0">
                <a:solidFill>
                  <a:srgbClr val="AA3C3C"/>
                </a:solidFill>
                <a:latin typeface="Aptos"/>
              </a:rPr>
              <a:t>, respectively. IRR diagnostics distinguish single-root, multiple-root, and numerically ill-conditioned cases; a scalar IRR is not reported when a single reliable result cannot be established.</a:t>
            </a: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828C"/>
          </a:solidFill>
          <a:ln>
            <a:solidFill>
              <a:srgbClr val="00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01168"/>
            <a:ext cx="11338560" cy="347472"/>
          </a:xfrm>
          <a:prstGeom prst="rect">
            <a:avLst/>
          </a:prstGeom>
          <a:noFill/>
        </p:spPr>
        <p:txBody>
          <a:bodyPr wrap="square" lIns="27432" tIns="18288" rIns="27432" bIns="18288">
            <a:spAutoFit/>
          </a:bodyPr>
          <a:lstStyle/>
          <a:p>
            <a:pPr>
              <a:defRPr sz="2000" b="1">
                <a:solidFill>
                  <a:srgbClr val="12253F"/>
                </a:solidFill>
                <a:latin typeface="Aptos"/>
              </a:defRPr>
            </a:pPr>
            <a:r>
              <a:t>Power BI implementation evidence | Capital deployment and lifecycle</a:t>
            </a:r>
          </a:p>
        </p:txBody>
      </p:sp>
      <p:sp>
        <p:nvSpPr>
          <p:cNvPr id="4" name="TextBox 3"/>
          <p:cNvSpPr txBox="1"/>
          <p:nvPr/>
        </p:nvSpPr>
        <p:spPr>
          <a:xfrm>
            <a:off x="429768" y="566928"/>
            <a:ext cx="11247120" cy="256032"/>
          </a:xfrm>
          <a:prstGeom prst="rect">
            <a:avLst/>
          </a:prstGeom>
          <a:noFill/>
        </p:spPr>
        <p:txBody>
          <a:bodyPr wrap="square" lIns="27432" tIns="18288" rIns="27432" bIns="18288">
            <a:spAutoFit/>
          </a:bodyPr>
          <a:lstStyle/>
          <a:p>
            <a:pPr>
              <a:defRPr sz="1000" b="0">
                <a:solidFill>
                  <a:srgbClr val="5F6C7D"/>
                </a:solidFill>
                <a:latin typeface="Aptos"/>
              </a:defRPr>
            </a:pPr>
            <a:r>
              <a:rPr dirty="0"/>
              <a:t>First-oil timing, CAPEX deployment, cumulative CAPEX, cumulative net cash flow, and production-phase assumptions</a:t>
            </a:r>
          </a:p>
        </p:txBody>
      </p:sp>
      <p:pic>
        <p:nvPicPr>
          <p:cNvPr id="5" name="Picture 4" descr="Screenshot 2026-10-27 105608.png"/>
          <p:cNvPicPr>
            <a:picLocks noChangeAspect="1"/>
          </p:cNvPicPr>
          <p:nvPr/>
        </p:nvPicPr>
        <p:blipFill>
          <a:blip r:embed="rId2"/>
          <a:srcRect r="1021"/>
          <a:stretch>
            <a:fillRect/>
          </a:stretch>
        </p:blipFill>
        <p:spPr>
          <a:xfrm>
            <a:off x="1227674" y="896112"/>
            <a:ext cx="9636972" cy="5166360"/>
          </a:xfrm>
          <a:prstGeom prst="rect">
            <a:avLst/>
          </a:prstGeom>
        </p:spPr>
      </p:pic>
      <p:sp>
        <p:nvSpPr>
          <p:cNvPr id="6" name="TextBox 5"/>
          <p:cNvSpPr txBox="1"/>
          <p:nvPr/>
        </p:nvSpPr>
        <p:spPr>
          <a:xfrm>
            <a:off x="603140" y="6094941"/>
            <a:ext cx="10506820" cy="283154"/>
          </a:xfrm>
          <a:prstGeom prst="rect">
            <a:avLst/>
          </a:prstGeom>
          <a:noFill/>
        </p:spPr>
        <p:txBody>
          <a:bodyPr wrap="square" lIns="27432" tIns="18288" rIns="27432" bIns="18288">
            <a:spAutoFit/>
          </a:bodyPr>
          <a:lstStyle/>
          <a:p>
            <a:pPr>
              <a:defRPr sz="800" b="1">
                <a:solidFill>
                  <a:srgbClr val="AA3C3C"/>
                </a:solidFill>
                <a:latin typeface="Aptos"/>
              </a:defRPr>
            </a:pPr>
            <a:r>
              <a:rPr lang="en-US" sz="800" b="1" dirty="0">
                <a:solidFill>
                  <a:srgbClr val="AA3C3C"/>
                </a:solidFill>
                <a:latin typeface="Aptos"/>
              </a:rPr>
              <a:t>Annual and cumulative CAPEX, first-oil timing, production phases, and net cash-flow profiles are model-generated outputs. Interpret these visuals within the documented timing conventions, synthetic input assumptions, and economic-model boundaries. Reconciliation to the annual economic model should be confirmed before external publication.</a:t>
            </a:r>
            <a:r>
              <a:rPr dirty="0"/>
              <a:t>.</a:t>
            </a:r>
          </a:p>
        </p:txBody>
      </p:sp>
      <p:sp>
        <p:nvSpPr>
          <p:cNvPr id="7" name="TextBox 6"/>
          <p:cNvSpPr txBox="1"/>
          <p:nvPr/>
        </p:nvSpPr>
        <p:spPr>
          <a:xfrm>
            <a:off x="11109960" y="6473952"/>
            <a:ext cx="594360" cy="182880"/>
          </a:xfrm>
          <a:prstGeom prst="rect">
            <a:avLst/>
          </a:prstGeom>
          <a:noFill/>
        </p:spPr>
        <p:txBody>
          <a:bodyPr wrap="square" lIns="27432" tIns="18288" rIns="27432" bIns="18288">
            <a:spAutoFit/>
          </a:bodyPr>
          <a:lstStyle/>
          <a:p>
            <a:pPr>
              <a:defRPr sz="900" b="0">
                <a:solidFill>
                  <a:srgbClr val="5F6C7D"/>
                </a:solidFill>
                <a:latin typeface="Aptos"/>
              </a:defRPr>
            </a:pPr>
            <a:r>
              <a:t>39</a:t>
            </a:r>
          </a:p>
        </p:txBody>
      </p:sp>
      <p:sp>
        <p:nvSpPr>
          <p:cNvPr id="11" name="TextBox 10">
            <a:extLst>
              <a:ext uri="{FF2B5EF4-FFF2-40B4-BE49-F238E27FC236}">
                <a16:creationId xmlns:a16="http://schemas.microsoft.com/office/drawing/2014/main" id="{1108088B-A72F-0FF8-3072-891C04FB7886}"/>
              </a:ext>
            </a:extLst>
          </p:cNvPr>
          <p:cNvSpPr txBox="1"/>
          <p:nvPr/>
        </p:nvSpPr>
        <p:spPr>
          <a:xfrm>
            <a:off x="603140" y="6491060"/>
            <a:ext cx="10506820" cy="283154"/>
          </a:xfrm>
          <a:prstGeom prst="rect">
            <a:avLst/>
          </a:prstGeom>
          <a:noFill/>
        </p:spPr>
        <p:txBody>
          <a:bodyPr wrap="square" lIns="27432" tIns="18288" rIns="27432" bIns="18288">
            <a:spAutoFit/>
          </a:bodyPr>
          <a:lstStyle/>
          <a:p>
            <a:r>
              <a:rPr lang="en-US" sz="800" b="1" dirty="0"/>
              <a:t>General Disclaimer:</a:t>
            </a:r>
            <a:r>
              <a:rPr lang="en-US" sz="800" dirty="0"/>
              <a:t> This project is a synthetic offshore field development economics case study developed for engineering analytics and decision-support demonstration. All production profiles, costs, oil prices, schedules, and financial results are illustrative model outputs. They do not represent actual offshore asset performance, independently verified project estimates, investment advice, or commercial forecasts. Results are sensitive to the underlying assumptions and model boundaries.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34</TotalTime>
  <Words>3189</Words>
  <Application>Microsoft Office PowerPoint</Application>
  <PresentationFormat>Widescreen</PresentationFormat>
  <Paragraphs>297</Paragraphs>
  <Slides>39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Anibal Ceballos</cp:lastModifiedBy>
  <cp:revision>4</cp:revision>
  <dcterms:created xsi:type="dcterms:W3CDTF">2013-01-27T09:14:16Z</dcterms:created>
  <dcterms:modified xsi:type="dcterms:W3CDTF">2026-10-27T17:26:01Z</dcterms:modified>
  <cp:category/>
</cp:coreProperties>
</file>